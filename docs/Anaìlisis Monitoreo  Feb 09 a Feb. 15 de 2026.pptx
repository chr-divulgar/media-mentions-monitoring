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2.xml" ContentType="application/vnd.openxmlformats-officedocument.drawingml.chartshapes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4"/>
  </p:notesMasterIdLst>
  <p:sldIdLst>
    <p:sldId id="407" r:id="rId5"/>
    <p:sldId id="408" r:id="rId6"/>
    <p:sldId id="411" r:id="rId7"/>
    <p:sldId id="412" r:id="rId8"/>
    <p:sldId id="413" r:id="rId9"/>
    <p:sldId id="414" r:id="rId10"/>
    <p:sldId id="418" r:id="rId11"/>
    <p:sldId id="416" r:id="rId12"/>
    <p:sldId id="417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85" userDrawn="1">
          <p15:clr>
            <a:srgbClr val="A4A3A4"/>
          </p15:clr>
        </p15:guide>
        <p15:guide id="2" orient="horz" pos="2183" userDrawn="1">
          <p15:clr>
            <a:srgbClr val="A4A3A4"/>
          </p15:clr>
        </p15:guide>
        <p15:guide id="3" orient="horz" pos="1560" userDrawn="1">
          <p15:clr>
            <a:srgbClr val="A4A3A4"/>
          </p15:clr>
        </p15:guide>
        <p15:guide id="4" pos="32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00684D"/>
    <a:srgbClr val="084DBC"/>
    <a:srgbClr val="FF9900"/>
    <a:srgbClr val="E2C308"/>
    <a:srgbClr val="BEBA06"/>
    <a:srgbClr val="FF9999"/>
    <a:srgbClr val="27895A"/>
    <a:srgbClr val="D35D4D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75" autoAdjust="0"/>
    <p:restoredTop sz="93506" autoAdjust="0"/>
  </p:normalViewPr>
  <p:slideViewPr>
    <p:cSldViewPr snapToGrid="0" showGuides="1">
      <p:cViewPr>
        <p:scale>
          <a:sx n="68" d="100"/>
          <a:sy n="68" d="100"/>
        </p:scale>
        <p:origin x="126" y="-108"/>
      </p:cViewPr>
      <p:guideLst>
        <p:guide pos="3885"/>
        <p:guide orient="horz" pos="2183"/>
        <p:guide orient="horz" pos="1560"/>
        <p:guide pos="32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FEBRERO\Revisado_Ecopetrol_febrero%2009%20a%20febrero%2015%20de-2026+Regionales%20(4)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D:\Escritorio\Ecopetrol\ECOPETROL%202026\FEBRERO\Revisado_Ecopetrol_febrero%2009%20a%20febrero%2015%20de-2026+Regionales%20(4)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FEBRERO\Revisado_Ecopetrol_febrero%2009%20a%20febrero%2015%20de-2026+Regionales%20(4)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FEBRERO\Revisado_Ecopetrol_febrero%2009%20a%20febrero%2015%20de-2026+Regionales%20(4)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FEBRERO\Revisado_Ecopetrol_febrero%2009%20a%20febrero%2015%20de-2026+Regionales%20(4)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FEBRERO\Revisado_Ecopetrol_febrero%2009%20a%20febrero%2015%20de-2026+Regionales%20(4)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FEBRERO\Revisado_Ecopetrol_febrero%2009%20a%20febrero%2015%20de-2026+Regionales%20(4)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FEBRERO\Revisado_Ecopetrol_febrero%2009%20a%20febrero%2015%20de-2026+Regionales%20(4)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Escritorio\Ecopetrol\ECOPETROL%202026\FEBRERO\Revisado_Ecopetrol_febrero%2009%20a%20febrero%2015%20de-2026+Regionales%20(4)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2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FEBRERO\Revisado_Ecopetrol_febrero%2009%20a%20febrero%2015%20de-2026+Regionales%20(4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[Revisado_Ecopetrol_febrero 09 a febrero 15 de-2026+Regionales (4).xlsx]Principal!TablaDinámica5</c:name>
    <c:fmtId val="230"/>
  </c:pivotSource>
  <c:chart>
    <c:title>
      <c:tx>
        <c:rich>
          <a:bodyPr/>
          <a:lstStyle/>
          <a:p>
            <a:pPr>
              <a:defRPr sz="14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lang="es-CO"/>
              <a:t>Sentimiento publicaciones directas</a:t>
            </a:r>
          </a:p>
        </c:rich>
      </c:tx>
      <c:layout>
        <c:manualLayout>
          <c:xMode val="edge"/>
          <c:yMode val="edge"/>
          <c:x val="9.9963214529889141E-2"/>
          <c:y val="3.1050218635102475E-2"/>
        </c:manualLayout>
      </c:layout>
      <c:overlay val="0"/>
      <c:spPr>
        <a:noFill/>
        <a:ln w="25400">
          <a:noFill/>
        </a:ln>
      </c:spPr>
    </c:title>
    <c:autoTitleDeleted val="0"/>
    <c:pivotFmts>
      <c:pivotFmt>
        <c:idx val="0"/>
        <c:marker>
          <c:symbol val="none"/>
        </c:marker>
        <c:dLbl>
          <c:idx val="0"/>
          <c:spPr>
            <a:noFill/>
            <a:ln w="25400">
              <a:noFill/>
            </a:ln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6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bg1">
              <a:lumMod val="75000"/>
            </a:schemeClr>
          </a:solidFill>
        </c:spPr>
        <c:dLbl>
          <c:idx val="0"/>
          <c:layout>
            <c:manualLayout>
              <c:x val="5.2608546649408214E-2"/>
              <c:y val="1.1727999875386478E-2"/>
            </c:manualLayout>
          </c:layout>
          <c:spPr>
            <a:noFill/>
            <a:ln w="25400">
              <a:noFill/>
            </a:ln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6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B050"/>
          </a:solidFill>
        </c:spPr>
      </c:pivotFmt>
      <c:pivotFmt>
        <c:idx val="3"/>
        <c:spPr>
          <a:solidFill>
            <a:srgbClr val="FF9966"/>
          </a:solidFill>
        </c:spPr>
        <c:dLbl>
          <c:idx val="0"/>
          <c:layout>
            <c:manualLayout>
              <c:x val="-5.6614576645049826E-2"/>
              <c:y val="1.5983617367259149E-2"/>
            </c:manualLayout>
          </c:layout>
          <c:spPr>
            <a:noFill/>
            <a:ln w="25400">
              <a:noFill/>
            </a:ln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6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6600"/>
          </a:solidFill>
        </c:spPr>
      </c:pivotFmt>
      <c:pivotFmt>
        <c:idx val="5"/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marker>
          <c:symbol val="none"/>
        </c:marker>
        <c:dLbl>
          <c:idx val="0"/>
          <c:spPr>
            <a:noFill/>
            <a:ln w="25400">
              <a:noFill/>
            </a:ln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6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bg1">
              <a:lumMod val="75000"/>
            </a:schemeClr>
          </a:solidFill>
        </c:spPr>
        <c:dLbl>
          <c:idx val="0"/>
          <c:layout>
            <c:manualLayout>
              <c:x val="5.2608546649408214E-2"/>
              <c:y val="1.1727999875386478E-2"/>
            </c:manualLayout>
          </c:layout>
          <c:spPr>
            <a:noFill/>
            <a:ln w="25400">
              <a:noFill/>
            </a:ln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6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00B050"/>
          </a:solidFill>
        </c:spPr>
      </c:pivotFmt>
      <c:pivotFmt>
        <c:idx val="9"/>
        <c:spPr>
          <a:solidFill>
            <a:srgbClr val="FF6600"/>
          </a:solidFill>
        </c:spPr>
      </c:pivotFmt>
      <c:pivotFmt>
        <c:idx val="1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4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bg2">
              <a:lumMod val="75000"/>
            </a:schemeClr>
          </a:solidFill>
        </c:spPr>
      </c:pivotFmt>
      <c:pivotFmt>
        <c:idx val="12"/>
        <c:spPr>
          <a:solidFill>
            <a:srgbClr val="00B050"/>
          </a:solidFill>
        </c:spPr>
      </c:pivotFmt>
      <c:pivotFmt>
        <c:idx val="13"/>
        <c:spPr>
          <a:solidFill>
            <a:srgbClr val="FF6600"/>
          </a:solidFill>
        </c:spPr>
        <c:dLbl>
          <c:idx val="0"/>
          <c:layout>
            <c:manualLayout>
              <c:x val="-2.0235708752446738E-2"/>
              <c:y val="2.545425206665284E-2"/>
            </c:manualLayout>
          </c:layout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4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FF6600"/>
          </a:solidFill>
        </c:spPr>
      </c:pivotFmt>
      <c:pivotFmt>
        <c:idx val="15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2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75000"/>
            </a:schemeClr>
          </a:solidFill>
        </c:spPr>
      </c:pivotFmt>
      <c:pivotFmt>
        <c:idx val="17"/>
        <c:spPr>
          <a:solidFill>
            <a:srgbClr val="00B050"/>
          </a:solidFill>
        </c:spPr>
      </c:pivotFmt>
      <c:pivotFmt>
        <c:idx val="18"/>
        <c:spPr>
          <a:solidFill>
            <a:srgbClr val="FF7C80"/>
          </a:solidFill>
        </c:spPr>
        <c:dLbl>
          <c:idx val="0"/>
          <c:layout>
            <c:manualLayout>
              <c:x val="-6.3434499568978328E-2"/>
              <c:y val="1.3027237398480658E-3"/>
            </c:manualLayout>
          </c:layout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2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FF7C80"/>
          </a:solidFill>
        </c:spPr>
      </c:pivotFmt>
      <c:pivotFmt>
        <c:idx val="2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2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bg1">
              <a:lumMod val="75000"/>
            </a:schemeClr>
          </a:solidFill>
        </c:spPr>
      </c:pivotFmt>
      <c:pivotFmt>
        <c:idx val="22"/>
        <c:spPr>
          <a:solidFill>
            <a:srgbClr val="00B050"/>
          </a:solidFill>
        </c:spPr>
      </c:pivotFmt>
      <c:pivotFmt>
        <c:idx val="23"/>
        <c:spPr>
          <a:solidFill>
            <a:srgbClr val="FF7C80"/>
          </a:solidFill>
        </c:spPr>
      </c:pivotFmt>
      <c:pivotFmt>
        <c:idx val="24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2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bg1">
              <a:lumMod val="75000"/>
            </a:schemeClr>
          </a:solidFill>
        </c:spPr>
      </c:pivotFmt>
      <c:pivotFmt>
        <c:idx val="26"/>
        <c:spPr>
          <a:solidFill>
            <a:srgbClr val="00B050"/>
          </a:solidFill>
        </c:spPr>
      </c:pivotFmt>
      <c:pivotFmt>
        <c:idx val="27"/>
        <c:spPr>
          <a:solidFill>
            <a:srgbClr val="FF7C80"/>
          </a:solidFill>
        </c:spPr>
      </c:pivotFmt>
    </c:pivotFmts>
    <c:plotArea>
      <c:layout>
        <c:manualLayout>
          <c:layoutTarget val="inner"/>
          <c:xMode val="edge"/>
          <c:yMode val="edge"/>
          <c:x val="0.16567473834877611"/>
          <c:y val="0.22017009163074364"/>
          <c:w val="0.54123647550985698"/>
          <c:h val="0.64449864659341061"/>
        </c:manualLayout>
      </c:layout>
      <c:pieChart>
        <c:varyColors val="1"/>
        <c:ser>
          <c:idx val="0"/>
          <c:order val="0"/>
          <c:tx>
            <c:strRef>
              <c:f>Principal!$B$4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D18A-47FB-9000-68B35E7B31BB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3-D18A-47FB-9000-68B35E7B31BB}"/>
              </c:ext>
            </c:extLst>
          </c:dPt>
          <c:dPt>
            <c:idx val="2"/>
            <c:bubble3D val="0"/>
            <c:spPr>
              <a:solidFill>
                <a:srgbClr val="FF7C80"/>
              </a:solidFill>
            </c:spPr>
            <c:extLst>
              <c:ext xmlns:c16="http://schemas.microsoft.com/office/drawing/2014/chart" uri="{C3380CC4-5D6E-409C-BE32-E72D297353CC}">
                <c16:uniqueId val="{00000005-D18A-47FB-9000-68B35E7B31B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/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Principal!$A$5:$A$8</c:f>
              <c:strCache>
                <c:ptCount val="3"/>
                <c:pt idx="0">
                  <c:v>Neutra</c:v>
                </c:pt>
                <c:pt idx="1">
                  <c:v>Positiva</c:v>
                </c:pt>
                <c:pt idx="2">
                  <c:v>Negativa</c:v>
                </c:pt>
              </c:strCache>
            </c:strRef>
          </c:cat>
          <c:val>
            <c:numRef>
              <c:f>Principal!$B$5:$B$8</c:f>
              <c:numCache>
                <c:formatCode>0</c:formatCode>
                <c:ptCount val="3"/>
                <c:pt idx="0">
                  <c:v>97</c:v>
                </c:pt>
                <c:pt idx="1">
                  <c:v>179</c:v>
                </c:pt>
                <c:pt idx="2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18A-47FB-9000-68B35E7B31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68470026089437286"/>
          <c:y val="0.49805080418843817"/>
          <c:w val="0.28466911344150414"/>
          <c:h val="0.42182048002334066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12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9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8738018645173407E-2"/>
          <c:y val="0.19595300286936373"/>
          <c:w val="0.88618597865315207"/>
          <c:h val="0.59668572719153257"/>
        </c:manualLayout>
      </c:layout>
      <c:areaChart>
        <c:grouping val="stacked"/>
        <c:varyColors val="0"/>
        <c:ser>
          <c:idx val="3"/>
          <c:order val="3"/>
          <c:tx>
            <c:strRef>
              <c:f>'1. Publi Audie Sentim'!$P$5</c:f>
              <c:strCache>
                <c:ptCount val="1"/>
                <c:pt idx="0">
                  <c:v>Audiencia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dLbls>
            <c:dLbl>
              <c:idx val="0"/>
              <c:layout>
                <c:manualLayout>
                  <c:x val="3.086000155350593E-2"/>
                  <c:y val="-8.4099937519257276E-2"/>
                </c:manualLayout>
              </c:layout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0"/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A27B-416A-8DF2-EC6567C1073D}"/>
                </c:ext>
              </c:extLst>
            </c:dLbl>
            <c:dLbl>
              <c:idx val="1"/>
              <c:layout>
                <c:manualLayout>
                  <c:x val="3.7041213128246687E-2"/>
                  <c:y val="-0.349642104763117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27B-416A-8DF2-EC6567C1073D}"/>
                </c:ext>
              </c:extLst>
            </c:dLbl>
            <c:dLbl>
              <c:idx val="2"/>
              <c:layout>
                <c:manualLayout>
                  <c:x val="4.0332097130643181E-2"/>
                  <c:y val="-8.539012857045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A27B-416A-8DF2-EC6567C1073D}"/>
                </c:ext>
              </c:extLst>
            </c:dLbl>
            <c:dLbl>
              <c:idx val="3"/>
              <c:layout>
                <c:manualLayout>
                  <c:x val="3.5310792007596001E-2"/>
                  <c:y val="-0.3368579641834255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27B-416A-8DF2-EC6567C1073D}"/>
                </c:ext>
              </c:extLst>
            </c:dLbl>
            <c:spPr>
              <a:noFill/>
              <a:ln>
                <a:solidFill>
                  <a:schemeClr val="tx1"/>
                </a:solidFill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'1. Publi Audie Sentim'!$L$6:$L$9</c:f>
              <c:strCache>
                <c:ptCount val="4"/>
                <c:pt idx="0">
                  <c:v>Financieras Especializadas</c:v>
                </c:pt>
                <c:pt idx="1">
                  <c:v>Grupo Empresarial</c:v>
                </c:pt>
                <c:pt idx="2">
                  <c:v>Presidente Ricardo Roa</c:v>
                </c:pt>
                <c:pt idx="3">
                  <c:v>Total general</c:v>
                </c:pt>
              </c:strCache>
            </c:strRef>
          </c:cat>
          <c:val>
            <c:numRef>
              <c:f>'1. Publi Audie Sentim'!$P$6:$P$9</c:f>
              <c:numCache>
                <c:formatCode>#,##0_ </c:formatCode>
                <c:ptCount val="4"/>
                <c:pt idx="0">
                  <c:v>4373781</c:v>
                </c:pt>
                <c:pt idx="1">
                  <c:v>35713771</c:v>
                </c:pt>
                <c:pt idx="2">
                  <c:v>64010593</c:v>
                </c:pt>
                <c:pt idx="3">
                  <c:v>104098145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27B-416A-8DF2-EC6567C107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"/>
        <c:axId val="4"/>
      </c:areaChart>
      <c:barChart>
        <c:barDir val="col"/>
        <c:grouping val="stacked"/>
        <c:varyColors val="0"/>
        <c:ser>
          <c:idx val="0"/>
          <c:order val="0"/>
          <c:tx>
            <c:strRef>
              <c:f>'1. Publi Audie Sentim'!$M$5</c:f>
              <c:strCache>
                <c:ptCount val="1"/>
                <c:pt idx="0">
                  <c:v>Negativa</c:v>
                </c:pt>
              </c:strCache>
            </c:strRef>
          </c:tx>
          <c:spPr>
            <a:gradFill flip="none" rotWithShape="1">
              <a:gsLst>
                <a:gs pos="0">
                  <a:srgbClr val="FF6600">
                    <a:shade val="30000"/>
                    <a:satMod val="115000"/>
                  </a:srgbClr>
                </a:gs>
                <a:gs pos="50000">
                  <a:srgbClr val="FF6600">
                    <a:shade val="67500"/>
                    <a:satMod val="115000"/>
                  </a:srgbClr>
                </a:gs>
                <a:gs pos="100000">
                  <a:srgbClr val="FF66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'1. Publi Audie Sentim'!$L$6:$L$9</c:f>
              <c:strCache>
                <c:ptCount val="4"/>
                <c:pt idx="0">
                  <c:v>Financieras Especializadas</c:v>
                </c:pt>
                <c:pt idx="1">
                  <c:v>Grupo Empresarial</c:v>
                </c:pt>
                <c:pt idx="2">
                  <c:v>Presidente Ricardo Roa</c:v>
                </c:pt>
                <c:pt idx="3">
                  <c:v>Total general</c:v>
                </c:pt>
              </c:strCache>
            </c:strRef>
          </c:cat>
          <c:val>
            <c:numRef>
              <c:f>'1. Publi Audie Sentim'!$M$6:$M$9</c:f>
              <c:numCache>
                <c:formatCode>0_ </c:formatCode>
                <c:ptCount val="4"/>
                <c:pt idx="0">
                  <c:v>16</c:v>
                </c:pt>
                <c:pt idx="1">
                  <c:v>83</c:v>
                </c:pt>
                <c:pt idx="2">
                  <c:v>155</c:v>
                </c:pt>
                <c:pt idx="3" formatCode="#,##0">
                  <c:v>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27B-416A-8DF2-EC6567C1073D}"/>
            </c:ext>
          </c:extLst>
        </c:ser>
        <c:ser>
          <c:idx val="1"/>
          <c:order val="1"/>
          <c:tx>
            <c:strRef>
              <c:f>'1. Publi Audie Sentim'!$N$5</c:f>
              <c:strCache>
                <c:ptCount val="1"/>
                <c:pt idx="0">
                  <c:v>Neutra</c:v>
                </c:pt>
              </c:strCache>
            </c:strRef>
          </c:tx>
          <c:spPr>
            <a:gradFill flip="none" rotWithShape="1">
              <a:gsLst>
                <a:gs pos="0">
                  <a:schemeClr val="bg1">
                    <a:lumMod val="50000"/>
                    <a:shade val="30000"/>
                    <a:satMod val="115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2024345895850637E-3"/>
                  <c:y val="-8.5770819052710221E-6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2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A27B-416A-8DF2-EC6567C1073D}"/>
                </c:ext>
              </c:extLst>
            </c:dLbl>
            <c:dLbl>
              <c:idx val="1"/>
              <c:spPr>
                <a:noFill/>
                <a:ln w="25400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A27B-416A-8DF2-EC6567C1073D}"/>
                </c:ext>
              </c:extLst>
            </c:dLbl>
            <c:dLbl>
              <c:idx val="2"/>
              <c:layout>
                <c:manualLayout>
                  <c:x val="-7.6687116564417178E-3"/>
                  <c:y val="-1.8645321268543089E-3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1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A27B-416A-8DF2-EC6567C1073D}"/>
                </c:ext>
              </c:extLst>
            </c:dLbl>
            <c:dLbl>
              <c:idx val="3"/>
              <c:spPr>
                <a:noFill/>
                <a:ln w="25400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A27B-416A-8DF2-EC6567C1073D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'1. Publi Audie Sentim'!$L$6:$L$9</c:f>
              <c:strCache>
                <c:ptCount val="4"/>
                <c:pt idx="0">
                  <c:v>Financieras Especializadas</c:v>
                </c:pt>
                <c:pt idx="1">
                  <c:v>Grupo Empresarial</c:v>
                </c:pt>
                <c:pt idx="2">
                  <c:v>Presidente Ricardo Roa</c:v>
                </c:pt>
                <c:pt idx="3">
                  <c:v>Total general</c:v>
                </c:pt>
              </c:strCache>
            </c:strRef>
          </c:cat>
          <c:val>
            <c:numRef>
              <c:f>'1. Publi Audie Sentim'!$N$6:$N$9</c:f>
              <c:numCache>
                <c:formatCode>0_ </c:formatCode>
                <c:ptCount val="4"/>
                <c:pt idx="0">
                  <c:v>6</c:v>
                </c:pt>
                <c:pt idx="1">
                  <c:v>91</c:v>
                </c:pt>
                <c:pt idx="2">
                  <c:v>39</c:v>
                </c:pt>
                <c:pt idx="3" formatCode="#,##0">
                  <c:v>136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7B-416A-8DF2-EC6567C1073D}"/>
            </c:ext>
          </c:extLst>
        </c:ser>
        <c:ser>
          <c:idx val="2"/>
          <c:order val="2"/>
          <c:tx>
            <c:strRef>
              <c:f>'1. Publi Audie Sentim'!$O$5</c:f>
              <c:strCache>
                <c:ptCount val="1"/>
                <c:pt idx="0">
                  <c:v>Positiva</c:v>
                </c:pt>
              </c:strCache>
            </c:strRef>
          </c:tx>
          <c:spPr>
            <a:gradFill flip="none" rotWithShape="1">
              <a:gsLst>
                <a:gs pos="0">
                  <a:srgbClr val="27895A">
                    <a:shade val="30000"/>
                    <a:satMod val="115000"/>
                  </a:srgbClr>
                </a:gs>
                <a:gs pos="50000">
                  <a:srgbClr val="27895A">
                    <a:shade val="67500"/>
                    <a:satMod val="115000"/>
                  </a:srgbClr>
                </a:gs>
                <a:gs pos="100000">
                  <a:srgbClr val="27895A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25400">
              <a:noFill/>
            </a:ln>
          </c:spPr>
          <c:invertIfNegative val="0"/>
          <c:dLbls>
            <c:dLbl>
              <c:idx val="0"/>
              <c:layout>
                <c:manualLayout>
                  <c:x val="1.3200027729245631E-3"/>
                  <c:y val="-1.3661642036146539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200" b="1" i="0" u="none" strike="noStrike" baseline="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A27B-416A-8DF2-EC6567C1073D}"/>
                </c:ext>
              </c:extLst>
            </c:dLbl>
            <c:dLbl>
              <c:idx val="1"/>
              <c:spPr>
                <a:noFill/>
                <a:ln w="25400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A27B-416A-8DF2-EC6567C1073D}"/>
                </c:ext>
              </c:extLst>
            </c:dLbl>
            <c:dLbl>
              <c:idx val="2"/>
              <c:layout>
                <c:manualLayout>
                  <c:x val="-3.1958016249578808E-2"/>
                  <c:y val="-7.2655471155603515E-2"/>
                </c:manualLayout>
              </c:layout>
              <c:tx>
                <c:rich>
                  <a:bodyPr/>
                  <a:lstStyle/>
                  <a:p>
                    <a:pPr>
                      <a:defRPr sz="1400" b="1" i="0" u="none" strike="noStrike" baseline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defRPr>
                    </a:pPr>
                    <a:r>
                      <a:rPr lang="en-US" sz="14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205</a:t>
                    </a:r>
                  </a:p>
                </c:rich>
              </c:tx>
              <c:spPr>
                <a:noFill/>
                <a:ln w="25400"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A27B-416A-8DF2-EC6567C1073D}"/>
                </c:ext>
              </c:extLst>
            </c:dLbl>
            <c:dLbl>
              <c:idx val="3"/>
              <c:spPr>
                <a:noFill/>
                <a:ln w="25400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A27B-416A-8DF2-EC6567C1073D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'1. Publi Audie Sentim'!$L$6:$L$9</c:f>
              <c:strCache>
                <c:ptCount val="4"/>
                <c:pt idx="0">
                  <c:v>Financieras Especializadas</c:v>
                </c:pt>
                <c:pt idx="1">
                  <c:v>Grupo Empresarial</c:v>
                </c:pt>
                <c:pt idx="2">
                  <c:v>Presidente Ricardo Roa</c:v>
                </c:pt>
                <c:pt idx="3">
                  <c:v>Total general</c:v>
                </c:pt>
              </c:strCache>
            </c:strRef>
          </c:cat>
          <c:val>
            <c:numRef>
              <c:f>'1. Publi Audie Sentim'!$O$6:$O$9</c:f>
              <c:numCache>
                <c:formatCode>0_ </c:formatCode>
                <c:ptCount val="4"/>
                <c:pt idx="0">
                  <c:v>3</c:v>
                </c:pt>
                <c:pt idx="1">
                  <c:v>176</c:v>
                </c:pt>
                <c:pt idx="2">
                  <c:v>11</c:v>
                </c:pt>
                <c:pt idx="3" formatCode="#,##0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A27B-416A-8DF2-EC6567C107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420985264"/>
        <c:axId val="1"/>
      </c:barChart>
      <c:catAx>
        <c:axId val="420985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20985264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numFmt formatCode="#,##0_ " sourceLinked="1"/>
        <c:majorTickMark val="out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3"/>
        <c:crosses val="max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15771427944162553"/>
          <c:y val="0.9160547798428017"/>
          <c:w val="0.5907499609686836"/>
          <c:h val="5.8499740823933055E-2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12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'2. Sentimiento'!$Q$28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27895A">
                <a:alpha val="100000"/>
              </a:srgbClr>
            </a:solidFill>
            <a:ln w="3175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'2. Sentimiento'!$R$27:$U$27</c:f>
              <c:strCache>
                <c:ptCount val="4"/>
                <c:pt idx="0">
                  <c:v>Ene 19 a Ene 25</c:v>
                </c:pt>
                <c:pt idx="1">
                  <c:v>Ene 26 a Feb 01</c:v>
                </c:pt>
                <c:pt idx="2">
                  <c:v>Feb 02 a Feb 08</c:v>
                </c:pt>
                <c:pt idx="3">
                  <c:v>Fab 09 a Feb15</c:v>
                </c:pt>
              </c:strCache>
            </c:strRef>
          </c:cat>
          <c:val>
            <c:numRef>
              <c:f>'2. Sentimiento'!$R$28:$U$28</c:f>
              <c:numCache>
                <c:formatCode>General</c:formatCode>
                <c:ptCount val="4"/>
                <c:pt idx="0">
                  <c:v>178</c:v>
                </c:pt>
                <c:pt idx="1">
                  <c:v>194</c:v>
                </c:pt>
                <c:pt idx="2">
                  <c:v>277</c:v>
                </c:pt>
                <c:pt idx="3">
                  <c:v>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9A-4FD8-ADBB-143E834B8BDD}"/>
            </c:ext>
          </c:extLst>
        </c:ser>
        <c:ser>
          <c:idx val="1"/>
          <c:order val="1"/>
          <c:tx>
            <c:strRef>
              <c:f>'2. Sentimiento'!$Q$29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'2. Sentimiento'!$R$27:$U$27</c:f>
              <c:strCache>
                <c:ptCount val="4"/>
                <c:pt idx="0">
                  <c:v>Ene 19 a Ene 25</c:v>
                </c:pt>
                <c:pt idx="1">
                  <c:v>Ene 26 a Feb 01</c:v>
                </c:pt>
                <c:pt idx="2">
                  <c:v>Feb 02 a Feb 08</c:v>
                </c:pt>
                <c:pt idx="3">
                  <c:v>Fab 09 a Feb15</c:v>
                </c:pt>
              </c:strCache>
            </c:strRef>
          </c:cat>
          <c:val>
            <c:numRef>
              <c:f>'2. Sentimiento'!$R$29:$U$29</c:f>
              <c:numCache>
                <c:formatCode>General</c:formatCode>
                <c:ptCount val="4"/>
                <c:pt idx="0">
                  <c:v>61</c:v>
                </c:pt>
                <c:pt idx="1">
                  <c:v>162</c:v>
                </c:pt>
                <c:pt idx="2">
                  <c:v>40</c:v>
                </c:pt>
                <c:pt idx="3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9A-4FD8-ADBB-143E834B8BDD}"/>
            </c:ext>
          </c:extLst>
        </c:ser>
        <c:ser>
          <c:idx val="2"/>
          <c:order val="2"/>
          <c:tx>
            <c:strRef>
              <c:f>'2. Sentimiento'!$Q$30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>
                <a:alpha val="100000"/>
              </a:srgbClr>
            </a:solidFill>
            <a:ln w="3175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'2. Sentimiento'!$R$27:$U$27</c:f>
              <c:strCache>
                <c:ptCount val="4"/>
                <c:pt idx="0">
                  <c:v>Ene 19 a Ene 25</c:v>
                </c:pt>
                <c:pt idx="1">
                  <c:v>Ene 26 a Feb 01</c:v>
                </c:pt>
                <c:pt idx="2">
                  <c:v>Feb 02 a Feb 08</c:v>
                </c:pt>
                <c:pt idx="3">
                  <c:v>Fab 09 a Feb15</c:v>
                </c:pt>
              </c:strCache>
            </c:strRef>
          </c:cat>
          <c:val>
            <c:numRef>
              <c:f>'2. Sentimiento'!$R$30:$U$30</c:f>
              <c:numCache>
                <c:formatCode>General</c:formatCode>
                <c:ptCount val="4"/>
                <c:pt idx="0">
                  <c:v>36</c:v>
                </c:pt>
                <c:pt idx="1">
                  <c:v>7</c:v>
                </c:pt>
                <c:pt idx="2">
                  <c:v>7</c:v>
                </c:pt>
                <c:pt idx="3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9A-4FD8-ADBB-143E834B8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71519752"/>
        <c:axId val="1"/>
      </c:barChart>
      <c:lineChart>
        <c:grouping val="stacked"/>
        <c:varyColors val="0"/>
        <c:ser>
          <c:idx val="3"/>
          <c:order val="3"/>
          <c:tx>
            <c:strRef>
              <c:f>'2. Sentimiento'!$Q$31</c:f>
              <c:strCache>
                <c:ptCount val="1"/>
                <c:pt idx="0">
                  <c:v>Total general</c:v>
                </c:pt>
              </c:strCache>
            </c:strRef>
          </c:tx>
          <c:spPr>
            <a:ln w="28575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1.0666666666666666E-2"/>
                  <c:y val="-8.4848484848484854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600" b="1" i="0" u="none" strike="noStrike" baseline="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9E9A-4FD8-ADBB-143E834B8BDD}"/>
                </c:ext>
              </c:extLst>
            </c:dLbl>
            <c:dLbl>
              <c:idx val="2"/>
              <c:layout>
                <c:manualLayout>
                  <c:x val="-1.1940298507463563E-3"/>
                  <c:y val="-8.48484848484849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600" b="1" i="0" u="none" strike="noStrike" baseline="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9E9A-4FD8-ADBB-143E834B8BDD}"/>
                </c:ext>
              </c:extLst>
            </c:dLbl>
            <c:dLbl>
              <c:idx val="3"/>
              <c:layout>
                <c:manualLayout>
                  <c:x val="9.2598425196850388E-3"/>
                  <c:y val="-2.0202020202020204E-2"/>
                </c:manualLayout>
              </c:layout>
              <c:spPr>
                <a:noFill/>
                <a:ln w="3175">
                  <a:noFill/>
                </a:ln>
              </c:spPr>
              <c:txPr>
                <a:bodyPr/>
                <a:lstStyle/>
                <a:p>
                  <a:pPr>
                    <a:defRPr sz="1600" b="1" i="0" u="none" strike="noStrike" baseline="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9E9A-4FD8-ADBB-143E834B8BDD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 b="1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'2. Sentimiento'!$R$27:$U$27</c:f>
              <c:strCache>
                <c:ptCount val="4"/>
                <c:pt idx="0">
                  <c:v>Ene 19 a Ene 25</c:v>
                </c:pt>
                <c:pt idx="1">
                  <c:v>Ene 26 a Feb 01</c:v>
                </c:pt>
                <c:pt idx="2">
                  <c:v>Feb 02 a Feb 08</c:v>
                </c:pt>
                <c:pt idx="3">
                  <c:v>Fab 09 a Feb15</c:v>
                </c:pt>
              </c:strCache>
            </c:strRef>
          </c:cat>
          <c:val>
            <c:numRef>
              <c:f>'2. Sentimiento'!$R$31:$U$31</c:f>
              <c:numCache>
                <c:formatCode>General</c:formatCode>
                <c:ptCount val="4"/>
                <c:pt idx="0">
                  <c:v>275</c:v>
                </c:pt>
                <c:pt idx="1">
                  <c:v>363</c:v>
                </c:pt>
                <c:pt idx="2">
                  <c:v>324</c:v>
                </c:pt>
                <c:pt idx="3">
                  <c:v>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9E9A-4FD8-ADBB-143E834B8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471519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14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71519752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3"/>
        <c:crosses val="max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90051071062884025"/>
          <c:y val="0.16823105445152689"/>
          <c:w val="9.6925187065900767E-2"/>
          <c:h val="0.58389732533433325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8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5198150526045384E-2"/>
          <c:y val="2.2813398468684763E-2"/>
          <c:w val="0.89494115271580732"/>
          <c:h val="0.674407485158716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'3 y 4. Medios genral y top'!$H$4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3175">
              <a:solidFill>
                <a:schemeClr val="accent1"/>
              </a:solidFill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'3 y 4. Medios genral y top'!$G$5:$G$24</c:f>
              <c:strCache>
                <c:ptCount val="20"/>
                <c:pt idx="0">
                  <c:v>Caracol radio</c:v>
                </c:pt>
                <c:pt idx="1">
                  <c:v>El Tiempo</c:v>
                </c:pt>
                <c:pt idx="2">
                  <c:v>Portafolio</c:v>
                </c:pt>
                <c:pt idx="3">
                  <c:v>Valora Analitik</c:v>
                </c:pt>
                <c:pt idx="4">
                  <c:v>La República</c:v>
                </c:pt>
                <c:pt idx="5">
                  <c:v>LA FM </c:v>
                </c:pt>
                <c:pt idx="6">
                  <c:v>Infobae</c:v>
                </c:pt>
                <c:pt idx="7">
                  <c:v>Blu Radio</c:v>
                </c:pt>
                <c:pt idx="8">
                  <c:v>Estrella Digital</c:v>
                </c:pt>
                <c:pt idx="9">
                  <c:v>El Frente</c:v>
                </c:pt>
                <c:pt idx="10">
                  <c:v>Bloomberg Línea</c:v>
                </c:pt>
                <c:pt idx="11">
                  <c:v>Hoy Diario del Magdalena</c:v>
                </c:pt>
                <c:pt idx="12">
                  <c:v>Noticias en Línea</c:v>
                </c:pt>
                <c:pt idx="13">
                  <c:v>El Colombiano</c:v>
                </c:pt>
                <c:pt idx="14">
                  <c:v>Semana</c:v>
                </c:pt>
                <c:pt idx="15">
                  <c:v>Medios Masivos Huila</c:v>
                </c:pt>
                <c:pt idx="16">
                  <c:v>Mundo Noticias 24 horas</c:v>
                </c:pt>
                <c:pt idx="17">
                  <c:v>Aguazul Noticias</c:v>
                </c:pt>
                <c:pt idx="18">
                  <c:v>Vanguardia</c:v>
                </c:pt>
                <c:pt idx="19">
                  <c:v>PRADO Noticias</c:v>
                </c:pt>
              </c:strCache>
            </c:strRef>
          </c:cat>
          <c:val>
            <c:numRef>
              <c:f>'3 y 4. Medios genral y top'!$H$5:$H$24</c:f>
              <c:numCache>
                <c:formatCode>General</c:formatCode>
                <c:ptCount val="20"/>
                <c:pt idx="0">
                  <c:v>5</c:v>
                </c:pt>
                <c:pt idx="1">
                  <c:v>6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  <c:pt idx="6">
                  <c:v>3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3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04-43D3-8629-4951D11F1E8A}"/>
            </c:ext>
          </c:extLst>
        </c:ser>
        <c:ser>
          <c:idx val="1"/>
          <c:order val="1"/>
          <c:tx>
            <c:strRef>
              <c:f>'3 y 4. Medios genral y top'!$I$4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00B050"/>
            </a:solidFill>
            <a:ln w="3175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'3 y 4. Medios genral y top'!$G$5:$G$24</c:f>
              <c:strCache>
                <c:ptCount val="20"/>
                <c:pt idx="0">
                  <c:v>Caracol radio</c:v>
                </c:pt>
                <c:pt idx="1">
                  <c:v>El Tiempo</c:v>
                </c:pt>
                <c:pt idx="2">
                  <c:v>Portafolio</c:v>
                </c:pt>
                <c:pt idx="3">
                  <c:v>Valora Analitik</c:v>
                </c:pt>
                <c:pt idx="4">
                  <c:v>La República</c:v>
                </c:pt>
                <c:pt idx="5">
                  <c:v>LA FM </c:v>
                </c:pt>
                <c:pt idx="6">
                  <c:v>Infobae</c:v>
                </c:pt>
                <c:pt idx="7">
                  <c:v>Blu Radio</c:v>
                </c:pt>
                <c:pt idx="8">
                  <c:v>Estrella Digital</c:v>
                </c:pt>
                <c:pt idx="9">
                  <c:v>El Frente</c:v>
                </c:pt>
                <c:pt idx="10">
                  <c:v>Bloomberg Línea</c:v>
                </c:pt>
                <c:pt idx="11">
                  <c:v>Hoy Diario del Magdalena</c:v>
                </c:pt>
                <c:pt idx="12">
                  <c:v>Noticias en Línea</c:v>
                </c:pt>
                <c:pt idx="13">
                  <c:v>El Colombiano</c:v>
                </c:pt>
                <c:pt idx="14">
                  <c:v>Semana</c:v>
                </c:pt>
                <c:pt idx="15">
                  <c:v>Medios Masivos Huila</c:v>
                </c:pt>
                <c:pt idx="16">
                  <c:v>Mundo Noticias 24 horas</c:v>
                </c:pt>
                <c:pt idx="17">
                  <c:v>Aguazul Noticias</c:v>
                </c:pt>
                <c:pt idx="18">
                  <c:v>Vanguardia</c:v>
                </c:pt>
                <c:pt idx="19">
                  <c:v>PRADO Noticias</c:v>
                </c:pt>
              </c:strCache>
            </c:strRef>
          </c:cat>
          <c:val>
            <c:numRef>
              <c:f>'3 y 4. Medios genral y top'!$I$5:$I$24</c:f>
              <c:numCache>
                <c:formatCode>General</c:formatCode>
                <c:ptCount val="20"/>
                <c:pt idx="0">
                  <c:v>3</c:v>
                </c:pt>
                <c:pt idx="1">
                  <c:v>5</c:v>
                </c:pt>
                <c:pt idx="2">
                  <c:v>2</c:v>
                </c:pt>
                <c:pt idx="3">
                  <c:v>2</c:v>
                </c:pt>
                <c:pt idx="4">
                  <c:v>5</c:v>
                </c:pt>
                <c:pt idx="8">
                  <c:v>4</c:v>
                </c:pt>
                <c:pt idx="9">
                  <c:v>4</c:v>
                </c:pt>
                <c:pt idx="11">
                  <c:v>1</c:v>
                </c:pt>
                <c:pt idx="12">
                  <c:v>4</c:v>
                </c:pt>
                <c:pt idx="14">
                  <c:v>1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2</c:v>
                </c:pt>
                <c:pt idx="1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04-43D3-8629-4951D11F1E8A}"/>
            </c:ext>
          </c:extLst>
        </c:ser>
        <c:ser>
          <c:idx val="2"/>
          <c:order val="2"/>
          <c:tx>
            <c:strRef>
              <c:f>'3 y 4. Medios genral y top'!$J$4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/>
            </a:solidFill>
            <a:ln w="3175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'3 y 4. Medios genral y top'!$G$5:$G$24</c:f>
              <c:strCache>
                <c:ptCount val="20"/>
                <c:pt idx="0">
                  <c:v>Caracol radio</c:v>
                </c:pt>
                <c:pt idx="1">
                  <c:v>El Tiempo</c:v>
                </c:pt>
                <c:pt idx="2">
                  <c:v>Portafolio</c:v>
                </c:pt>
                <c:pt idx="3">
                  <c:v>Valora Analitik</c:v>
                </c:pt>
                <c:pt idx="4">
                  <c:v>La República</c:v>
                </c:pt>
                <c:pt idx="5">
                  <c:v>LA FM </c:v>
                </c:pt>
                <c:pt idx="6">
                  <c:v>Infobae</c:v>
                </c:pt>
                <c:pt idx="7">
                  <c:v>Blu Radio</c:v>
                </c:pt>
                <c:pt idx="8">
                  <c:v>Estrella Digital</c:v>
                </c:pt>
                <c:pt idx="9">
                  <c:v>El Frente</c:v>
                </c:pt>
                <c:pt idx="10">
                  <c:v>Bloomberg Línea</c:v>
                </c:pt>
                <c:pt idx="11">
                  <c:v>Hoy Diario del Magdalena</c:v>
                </c:pt>
                <c:pt idx="12">
                  <c:v>Noticias en Línea</c:v>
                </c:pt>
                <c:pt idx="13">
                  <c:v>El Colombiano</c:v>
                </c:pt>
                <c:pt idx="14">
                  <c:v>Semana</c:v>
                </c:pt>
                <c:pt idx="15">
                  <c:v>Medios Masivos Huila</c:v>
                </c:pt>
                <c:pt idx="16">
                  <c:v>Mundo Noticias 24 horas</c:v>
                </c:pt>
                <c:pt idx="17">
                  <c:v>Aguazul Noticias</c:v>
                </c:pt>
                <c:pt idx="18">
                  <c:v>Vanguardia</c:v>
                </c:pt>
                <c:pt idx="19">
                  <c:v>PRADO Noticias</c:v>
                </c:pt>
              </c:strCache>
            </c:strRef>
          </c:cat>
          <c:val>
            <c:numRef>
              <c:f>'3 y 4. Medios genral y top'!$J$5:$J$24</c:f>
              <c:numCache>
                <c:formatCode>General</c:formatCode>
                <c:ptCount val="20"/>
                <c:pt idx="0">
                  <c:v>18</c:v>
                </c:pt>
                <c:pt idx="1">
                  <c:v>6</c:v>
                </c:pt>
                <c:pt idx="2">
                  <c:v>5</c:v>
                </c:pt>
                <c:pt idx="3">
                  <c:v>5</c:v>
                </c:pt>
                <c:pt idx="5">
                  <c:v>7</c:v>
                </c:pt>
                <c:pt idx="6">
                  <c:v>5</c:v>
                </c:pt>
                <c:pt idx="7">
                  <c:v>6</c:v>
                </c:pt>
                <c:pt idx="9">
                  <c:v>1</c:v>
                </c:pt>
                <c:pt idx="10">
                  <c:v>2</c:v>
                </c:pt>
                <c:pt idx="11">
                  <c:v>3</c:v>
                </c:pt>
                <c:pt idx="13">
                  <c:v>4</c:v>
                </c:pt>
                <c:pt idx="1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04-43D3-8629-4951D11F1E8A}"/>
            </c:ext>
          </c:extLst>
        </c:ser>
        <c:ser>
          <c:idx val="3"/>
          <c:order val="3"/>
          <c:tx>
            <c:strRef>
              <c:f>'3 y 4. Medios genral y top'!$K$4</c:f>
              <c:strCache>
                <c:ptCount val="1"/>
                <c:pt idx="0">
                  <c:v>Total general</c:v>
                </c:pt>
              </c:strCache>
            </c:strRef>
          </c:tx>
          <c:spPr>
            <a:solidFill>
              <a:srgbClr val="0070C0"/>
            </a:solidFill>
            <a:ln w="25400"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104-43D3-8629-4951D11F1E8A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 w="3175">
                <a:noFill/>
              </a:ln>
            </c:spPr>
            <c:extLst>
              <c:ext xmlns:c16="http://schemas.microsoft.com/office/drawing/2014/chart" uri="{C3380CC4-5D6E-409C-BE32-E72D297353CC}">
                <c16:uniqueId val="{00000005-1104-43D3-8629-4951D11F1E8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1104-43D3-8629-4951D11F1E8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104-43D3-8629-4951D11F1E8A}"/>
              </c:ext>
            </c:extLst>
          </c:dPt>
          <c:dPt>
            <c:idx val="4"/>
            <c:invertIfNegative val="0"/>
            <c:bubble3D val="0"/>
            <c:spPr>
              <a:solidFill>
                <a:srgbClr val="0070C0"/>
              </a:solidFill>
              <a:ln w="3175">
                <a:noFill/>
              </a:ln>
            </c:spPr>
            <c:extLst>
              <c:ext xmlns:c16="http://schemas.microsoft.com/office/drawing/2014/chart" uri="{C3380CC4-5D6E-409C-BE32-E72D297353CC}">
                <c16:uniqueId val="{00000009-1104-43D3-8629-4951D11F1E8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1104-43D3-8629-4951D11F1E8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104-43D3-8629-4951D11F1E8A}"/>
              </c:ext>
            </c:extLst>
          </c:dPt>
          <c:dPt>
            <c:idx val="7"/>
            <c:invertIfNegative val="0"/>
            <c:bubble3D val="0"/>
            <c:spPr>
              <a:solidFill>
                <a:srgbClr val="0070C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0D-1104-43D3-8629-4951D11F1E8A}"/>
              </c:ext>
            </c:extLst>
          </c:dPt>
          <c:dPt>
            <c:idx val="8"/>
            <c:invertIfNegative val="0"/>
            <c:bubble3D val="0"/>
            <c:spPr>
              <a:solidFill>
                <a:srgbClr val="0070C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0F-1104-43D3-8629-4951D11F1E8A}"/>
              </c:ext>
            </c:extLst>
          </c:dPt>
          <c:dPt>
            <c:idx val="9"/>
            <c:invertIfNegative val="0"/>
            <c:bubble3D val="0"/>
            <c:spPr>
              <a:solidFill>
                <a:srgbClr val="FFC00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1-1104-43D3-8629-4951D11F1E8A}"/>
              </c:ext>
            </c:extLst>
          </c:dPt>
          <c:dPt>
            <c:idx val="10"/>
            <c:invertIfNegative val="0"/>
            <c:bubble3D val="0"/>
            <c:spPr>
              <a:solidFill>
                <a:srgbClr val="0070C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3-1104-43D3-8629-4951D11F1E8A}"/>
              </c:ext>
            </c:extLst>
          </c:dPt>
          <c:dPt>
            <c:idx val="11"/>
            <c:invertIfNegative val="0"/>
            <c:bubble3D val="0"/>
            <c:spPr>
              <a:solidFill>
                <a:srgbClr val="FFC00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5-1104-43D3-8629-4951D11F1E8A}"/>
              </c:ext>
            </c:extLst>
          </c:dPt>
          <c:dPt>
            <c:idx val="12"/>
            <c:invertIfNegative val="0"/>
            <c:bubble3D val="0"/>
            <c:spPr>
              <a:solidFill>
                <a:srgbClr val="FFC000"/>
              </a:solidFill>
              <a:ln w="25400">
                <a:noFill/>
              </a:ln>
            </c:spPr>
            <c:extLst>
              <c:ext xmlns:c16="http://schemas.microsoft.com/office/drawing/2014/chart" uri="{C3380CC4-5D6E-409C-BE32-E72D297353CC}">
                <c16:uniqueId val="{00000017-1104-43D3-8629-4951D11F1E8A}"/>
              </c:ext>
            </c:extLst>
          </c:dPt>
          <c:dPt>
            <c:idx val="13"/>
            <c:invertIfNegative val="0"/>
            <c:bubble3D val="0"/>
            <c:spPr>
              <a:solidFill>
                <a:srgbClr val="FFC00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9-1104-43D3-8629-4951D11F1E8A}"/>
              </c:ext>
            </c:extLst>
          </c:dPt>
          <c:dPt>
            <c:idx val="14"/>
            <c:invertIfNegative val="0"/>
            <c:bubble3D val="0"/>
            <c:spPr>
              <a:solidFill>
                <a:srgbClr val="0070C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B-1104-43D3-8629-4951D11F1E8A}"/>
              </c:ext>
            </c:extLst>
          </c:dPt>
          <c:dPt>
            <c:idx val="15"/>
            <c:invertIfNegative val="0"/>
            <c:bubble3D val="0"/>
            <c:spPr>
              <a:solidFill>
                <a:srgbClr val="FFC00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D-1104-43D3-8629-4951D11F1E8A}"/>
              </c:ext>
            </c:extLst>
          </c:dPt>
          <c:dPt>
            <c:idx val="16"/>
            <c:invertIfNegative val="0"/>
            <c:bubble3D val="0"/>
            <c:spPr>
              <a:solidFill>
                <a:srgbClr val="FFC000"/>
              </a:solidFill>
              <a:ln w="25400">
                <a:noFill/>
              </a:ln>
            </c:spPr>
            <c:extLst>
              <c:ext xmlns:c16="http://schemas.microsoft.com/office/drawing/2014/chart" uri="{C3380CC4-5D6E-409C-BE32-E72D297353CC}">
                <c16:uniqueId val="{0000001F-1104-43D3-8629-4951D11F1E8A}"/>
              </c:ext>
            </c:extLst>
          </c:dPt>
          <c:dPt>
            <c:idx val="17"/>
            <c:invertIfNegative val="0"/>
            <c:bubble3D val="0"/>
            <c:spPr>
              <a:solidFill>
                <a:srgbClr val="FFC00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21-1104-43D3-8629-4951D11F1E8A}"/>
              </c:ext>
            </c:extLst>
          </c:dPt>
          <c:dPt>
            <c:idx val="18"/>
            <c:invertIfNegative val="0"/>
            <c:bubble3D val="0"/>
            <c:spPr>
              <a:solidFill>
                <a:srgbClr val="FFC00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23-1104-43D3-8629-4951D11F1E8A}"/>
              </c:ext>
            </c:extLst>
          </c:dPt>
          <c:dPt>
            <c:idx val="19"/>
            <c:invertIfNegative val="0"/>
            <c:bubble3D val="0"/>
            <c:spPr>
              <a:solidFill>
                <a:srgbClr val="FFC000"/>
              </a:solidFill>
              <a:ln w="25400">
                <a:noFill/>
              </a:ln>
            </c:spPr>
            <c:extLst>
              <c:ext xmlns:c16="http://schemas.microsoft.com/office/drawing/2014/chart" uri="{C3380CC4-5D6E-409C-BE32-E72D297353CC}">
                <c16:uniqueId val="{00000025-1104-43D3-8629-4951D11F1E8A}"/>
              </c:ext>
            </c:extLst>
          </c:dPt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'3 y 4. Medios genral y top'!$G$5:$G$24</c:f>
              <c:strCache>
                <c:ptCount val="20"/>
                <c:pt idx="0">
                  <c:v>Caracol radio</c:v>
                </c:pt>
                <c:pt idx="1">
                  <c:v>El Tiempo</c:v>
                </c:pt>
                <c:pt idx="2">
                  <c:v>Portafolio</c:v>
                </c:pt>
                <c:pt idx="3">
                  <c:v>Valora Analitik</c:v>
                </c:pt>
                <c:pt idx="4">
                  <c:v>La República</c:v>
                </c:pt>
                <c:pt idx="5">
                  <c:v>LA FM </c:v>
                </c:pt>
                <c:pt idx="6">
                  <c:v>Infobae</c:v>
                </c:pt>
                <c:pt idx="7">
                  <c:v>Blu Radio</c:v>
                </c:pt>
                <c:pt idx="8">
                  <c:v>Estrella Digital</c:v>
                </c:pt>
                <c:pt idx="9">
                  <c:v>El Frente</c:v>
                </c:pt>
                <c:pt idx="10">
                  <c:v>Bloomberg Línea</c:v>
                </c:pt>
                <c:pt idx="11">
                  <c:v>Hoy Diario del Magdalena</c:v>
                </c:pt>
                <c:pt idx="12">
                  <c:v>Noticias en Línea</c:v>
                </c:pt>
                <c:pt idx="13">
                  <c:v>El Colombiano</c:v>
                </c:pt>
                <c:pt idx="14">
                  <c:v>Semana</c:v>
                </c:pt>
                <c:pt idx="15">
                  <c:v>Medios Masivos Huila</c:v>
                </c:pt>
                <c:pt idx="16">
                  <c:v>Mundo Noticias 24 horas</c:v>
                </c:pt>
                <c:pt idx="17">
                  <c:v>Aguazul Noticias</c:v>
                </c:pt>
                <c:pt idx="18">
                  <c:v>Vanguardia</c:v>
                </c:pt>
                <c:pt idx="19">
                  <c:v>PRADO Noticias</c:v>
                </c:pt>
              </c:strCache>
            </c:strRef>
          </c:cat>
          <c:val>
            <c:numRef>
              <c:f>'3 y 4. Medios genral y top'!$K$5:$K$24</c:f>
              <c:numCache>
                <c:formatCode>General</c:formatCode>
                <c:ptCount val="20"/>
                <c:pt idx="0">
                  <c:v>26</c:v>
                </c:pt>
                <c:pt idx="1">
                  <c:v>17</c:v>
                </c:pt>
                <c:pt idx="2">
                  <c:v>12</c:v>
                </c:pt>
                <c:pt idx="3">
                  <c:v>12</c:v>
                </c:pt>
                <c:pt idx="4">
                  <c:v>9</c:v>
                </c:pt>
                <c:pt idx="5">
                  <c:v>9</c:v>
                </c:pt>
                <c:pt idx="6">
                  <c:v>8</c:v>
                </c:pt>
                <c:pt idx="7">
                  <c:v>8</c:v>
                </c:pt>
                <c:pt idx="8">
                  <c:v>6</c:v>
                </c:pt>
                <c:pt idx="9">
                  <c:v>6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1104-43D3-8629-4951D11F1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1571440"/>
        <c:axId val="1"/>
      </c:barChart>
      <c:catAx>
        <c:axId val="42157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270000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21571440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egendEntry>
        <c:idx val="3"/>
        <c:delete val="1"/>
      </c:legendEntry>
      <c:layout>
        <c:manualLayout>
          <c:xMode val="edge"/>
          <c:yMode val="edge"/>
          <c:x val="7.141355050298448E-2"/>
          <c:y val="0.93528980380754845"/>
          <c:w val="0.31875002089706939"/>
          <c:h val="4.3999976193451973E-2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11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1996013303081442"/>
          <c:y val="7.4029850746268694E-2"/>
          <c:w val="0.51418576377027836"/>
          <c:h val="0.6893769890703960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'5. Web'!$J$15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 b="1" i="0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'5. Web'!$I$16:$I$21</c:f>
              <c:strCache>
                <c:ptCount val="6"/>
                <c:pt idx="0">
                  <c:v>PRIMERA PÁGINA</c:v>
                </c:pt>
                <c:pt idx="1">
                  <c:v>NOTI CENTRO NOTICIAS</c:v>
                </c:pt>
                <c:pt idx="2">
                  <c:v>RTVC NOTICIAS</c:v>
                </c:pt>
                <c:pt idx="3">
                  <c:v>RED NOTICIAS</c:v>
                </c:pt>
                <c:pt idx="4">
                  <c:v>ORIENTE NOTICIAS</c:v>
                </c:pt>
                <c:pt idx="5">
                  <c:v>PRIMERA PÁGINA </c:v>
                </c:pt>
              </c:strCache>
            </c:strRef>
          </c:cat>
          <c:val>
            <c:numRef>
              <c:f>'5. Web'!$J$16:$J$21</c:f>
              <c:numCache>
                <c:formatCode>General</c:formatCode>
                <c:ptCount val="6"/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40-43FB-920C-A35CAD0A2FBF}"/>
            </c:ext>
          </c:extLst>
        </c:ser>
        <c:ser>
          <c:idx val="1"/>
          <c:order val="1"/>
          <c:tx>
            <c:strRef>
              <c:f>'5. Web'!$K$15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00B050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'5. Web'!$I$16:$I$21</c:f>
              <c:strCache>
                <c:ptCount val="6"/>
                <c:pt idx="0">
                  <c:v>PRIMERA PÁGINA</c:v>
                </c:pt>
                <c:pt idx="1">
                  <c:v>NOTI CENTRO NOTICIAS</c:v>
                </c:pt>
                <c:pt idx="2">
                  <c:v>RTVC NOTICIAS</c:v>
                </c:pt>
                <c:pt idx="3">
                  <c:v>RED NOTICIAS</c:v>
                </c:pt>
                <c:pt idx="4">
                  <c:v>ORIENTE NOTICIAS</c:v>
                </c:pt>
                <c:pt idx="5">
                  <c:v>PRIMERA PÁGINA </c:v>
                </c:pt>
              </c:strCache>
            </c:strRef>
          </c:cat>
          <c:val>
            <c:numRef>
              <c:f>'5. Web'!$K$16:$K$21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40-43FB-920C-A35CAD0A2FBF}"/>
            </c:ext>
          </c:extLst>
        </c:ser>
        <c:ser>
          <c:idx val="2"/>
          <c:order val="2"/>
          <c:tx>
            <c:strRef>
              <c:f>'5. Web'!$L$15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/>
            </a:solidFill>
          </c:spPr>
          <c:invertIfNegative val="0"/>
          <c:dLbls>
            <c:spPr>
              <a:solidFill>
                <a:srgbClr val="FF7C80"/>
              </a:solidFill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'5. Web'!$I$16:$I$21</c:f>
              <c:strCache>
                <c:ptCount val="6"/>
                <c:pt idx="0">
                  <c:v>PRIMERA PÁGINA</c:v>
                </c:pt>
                <c:pt idx="1">
                  <c:v>NOTI CENTRO NOTICIAS</c:v>
                </c:pt>
                <c:pt idx="2">
                  <c:v>RTVC NOTICIAS</c:v>
                </c:pt>
                <c:pt idx="3">
                  <c:v>RED NOTICIAS</c:v>
                </c:pt>
                <c:pt idx="4">
                  <c:v>ORIENTE NOTICIAS</c:v>
                </c:pt>
                <c:pt idx="5">
                  <c:v>PRIMERA PÁGINA </c:v>
                </c:pt>
              </c:strCache>
            </c:strRef>
          </c:cat>
          <c:val>
            <c:numRef>
              <c:f>'5. Web'!$L$16:$L$21</c:f>
              <c:numCache>
                <c:formatCode>General</c:formatCode>
                <c:ptCount val="6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40-43FB-920C-A35CAD0A2F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22566752"/>
        <c:axId val="1"/>
      </c:barChart>
      <c:catAx>
        <c:axId val="422566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22566752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3019134288541801"/>
          <c:y val="0.88789507381412303"/>
          <c:w val="0.54268980534800415"/>
          <c:h val="0.11210504327561524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8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019636481147647"/>
          <c:y val="7.4029850746268694E-2"/>
          <c:w val="0.50117698495423535"/>
          <c:h val="0.68937698907039602"/>
        </c:manualLayout>
      </c:layout>
      <c:barChart>
        <c:barDir val="bar"/>
        <c:grouping val="stacked"/>
        <c:varyColors val="0"/>
        <c:ser>
          <c:idx val="3"/>
          <c:order val="0"/>
          <c:tx>
            <c:strRef>
              <c:f>'5. Web'!$M$62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>
                    <a:solidFill>
                      <a:schemeClr val="tx1"/>
                    </a:solidFill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'5. Web'!$L$63:$L$68</c:f>
              <c:strCache>
                <c:ptCount val="6"/>
                <c:pt idx="0">
                  <c:v>Caracol Radio</c:v>
                </c:pt>
                <c:pt idx="1">
                  <c:v>LA FM </c:v>
                </c:pt>
                <c:pt idx="2">
                  <c:v>Blu Radio</c:v>
                </c:pt>
                <c:pt idx="3">
                  <c:v>JAVERIANA ST</c:v>
                </c:pt>
                <c:pt idx="4">
                  <c:v>Latina Stéreo</c:v>
                </c:pt>
                <c:pt idx="5">
                  <c:v>LA VOZ DE LA RANCHERÍA.</c:v>
                </c:pt>
              </c:strCache>
            </c:strRef>
          </c:cat>
          <c:val>
            <c:numRef>
              <c:f>'5. Web'!$M$63:$M$68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CA-4C4B-9704-5D7C7A6E3E36}"/>
            </c:ext>
          </c:extLst>
        </c:ser>
        <c:ser>
          <c:idx val="4"/>
          <c:order val="1"/>
          <c:tx>
            <c:strRef>
              <c:f>'5. Web'!$N$62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27895A"/>
            </a:solidFill>
            <a:ln w="2540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/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'5. Web'!$L$63:$L$68</c:f>
              <c:strCache>
                <c:ptCount val="6"/>
                <c:pt idx="0">
                  <c:v>Caracol Radio</c:v>
                </c:pt>
                <c:pt idx="1">
                  <c:v>LA FM </c:v>
                </c:pt>
                <c:pt idx="2">
                  <c:v>Blu Radio</c:v>
                </c:pt>
                <c:pt idx="3">
                  <c:v>JAVERIANA ST</c:v>
                </c:pt>
                <c:pt idx="4">
                  <c:v>Latina Stéreo</c:v>
                </c:pt>
                <c:pt idx="5">
                  <c:v>LA VOZ DE LA RANCHERÍA.</c:v>
                </c:pt>
              </c:strCache>
            </c:strRef>
          </c:cat>
          <c:val>
            <c:numRef>
              <c:f>'5. Web'!$N$63:$N$68</c:f>
              <c:numCache>
                <c:formatCode>General</c:formatCode>
                <c:ptCount val="6"/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CA-4C4B-9704-5D7C7A6E3E36}"/>
            </c:ext>
          </c:extLst>
        </c:ser>
        <c:ser>
          <c:idx val="5"/>
          <c:order val="2"/>
          <c:tx>
            <c:strRef>
              <c:f>'5. Web'!$O$62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/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'5. Web'!$L$63:$L$68</c:f>
              <c:strCache>
                <c:ptCount val="6"/>
                <c:pt idx="0">
                  <c:v>Caracol Radio</c:v>
                </c:pt>
                <c:pt idx="1">
                  <c:v>LA FM </c:v>
                </c:pt>
                <c:pt idx="2">
                  <c:v>Blu Radio</c:v>
                </c:pt>
                <c:pt idx="3">
                  <c:v>JAVERIANA ST</c:v>
                </c:pt>
                <c:pt idx="4">
                  <c:v>Latina Stéreo</c:v>
                </c:pt>
                <c:pt idx="5">
                  <c:v>LA VOZ DE LA RANCHERÍA.</c:v>
                </c:pt>
              </c:strCache>
            </c:strRef>
          </c:cat>
          <c:val>
            <c:numRef>
              <c:f>'5. Web'!$O$63:$O$68</c:f>
              <c:numCache>
                <c:formatCode>General</c:formatCode>
                <c:ptCount val="6"/>
                <c:pt idx="0">
                  <c:v>12</c:v>
                </c:pt>
                <c:pt idx="1">
                  <c:v>7</c:v>
                </c:pt>
                <c:pt idx="2">
                  <c:v>4</c:v>
                </c:pt>
                <c:pt idx="3">
                  <c:v>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CA-4C4B-9704-5D7C7A6E3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22566752"/>
        <c:axId val="1"/>
      </c:barChart>
      <c:catAx>
        <c:axId val="422566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22566752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3019134288541801"/>
          <c:y val="0.88789507381412303"/>
          <c:w val="0.54268980534800415"/>
          <c:h val="0.11210504327561524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8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295256680761417"/>
          <c:y val="9.6100195206125394E-2"/>
          <c:w val="0.55033781111935698"/>
          <c:h val="0.709165850467209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'5. Web'!$I$110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'5. Web'!$H$111:$H$116</c:f>
              <c:strCache>
                <c:ptCount val="6"/>
                <c:pt idx="0">
                  <c:v>El Tiempo</c:v>
                </c:pt>
                <c:pt idx="1">
                  <c:v>Portafolio</c:v>
                </c:pt>
                <c:pt idx="2">
                  <c:v>La República</c:v>
                </c:pt>
                <c:pt idx="3">
                  <c:v>El Universal</c:v>
                </c:pt>
                <c:pt idx="4">
                  <c:v>Vanguardia</c:v>
                </c:pt>
                <c:pt idx="5">
                  <c:v>El Espectador</c:v>
                </c:pt>
              </c:strCache>
            </c:strRef>
          </c:cat>
          <c:val>
            <c:numRef>
              <c:f>'5. Web'!$I$111:$I$116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21-4141-A597-2636601F3E2C}"/>
            </c:ext>
          </c:extLst>
        </c:ser>
        <c:ser>
          <c:idx val="1"/>
          <c:order val="1"/>
          <c:tx>
            <c:strRef>
              <c:f>'5. Web'!$J$110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00B050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'5. Web'!$H$111:$H$116</c:f>
              <c:strCache>
                <c:ptCount val="6"/>
                <c:pt idx="0">
                  <c:v>El Tiempo</c:v>
                </c:pt>
                <c:pt idx="1">
                  <c:v>Portafolio</c:v>
                </c:pt>
                <c:pt idx="2">
                  <c:v>La República</c:v>
                </c:pt>
                <c:pt idx="3">
                  <c:v>El Universal</c:v>
                </c:pt>
                <c:pt idx="4">
                  <c:v>Vanguardia</c:v>
                </c:pt>
                <c:pt idx="5">
                  <c:v>El Espectador</c:v>
                </c:pt>
              </c:strCache>
            </c:strRef>
          </c:cat>
          <c:val>
            <c:numRef>
              <c:f>'5. Web'!$J$111:$J$116</c:f>
              <c:numCache>
                <c:formatCode>General</c:formatCode>
                <c:ptCount val="6"/>
                <c:pt idx="0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21-4141-A597-2636601F3E2C}"/>
            </c:ext>
          </c:extLst>
        </c:ser>
        <c:ser>
          <c:idx val="2"/>
          <c:order val="2"/>
          <c:tx>
            <c:strRef>
              <c:f>'5. Web'!$K$110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 b="1" i="0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'5. Web'!$H$111:$H$116</c:f>
              <c:strCache>
                <c:ptCount val="6"/>
                <c:pt idx="0">
                  <c:v>El Tiempo</c:v>
                </c:pt>
                <c:pt idx="1">
                  <c:v>Portafolio</c:v>
                </c:pt>
                <c:pt idx="2">
                  <c:v>La República</c:v>
                </c:pt>
                <c:pt idx="3">
                  <c:v>El Universal</c:v>
                </c:pt>
                <c:pt idx="4">
                  <c:v>Vanguardia</c:v>
                </c:pt>
                <c:pt idx="5">
                  <c:v>El Espectador</c:v>
                </c:pt>
              </c:strCache>
            </c:strRef>
          </c:cat>
          <c:val>
            <c:numRef>
              <c:f>'5. Web'!$K$111:$K$116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21-4141-A597-2636601F3E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22559208"/>
        <c:axId val="1"/>
      </c:barChart>
      <c:catAx>
        <c:axId val="422559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22559208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16544924308703834"/>
          <c:y val="0.8892931080244183"/>
          <c:w val="0.82425011267530957"/>
          <c:h val="9.8500103217434853E-2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8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9881645685262753"/>
          <c:y val="5.1895848332133399E-2"/>
          <c:w val="0.65172613774871813"/>
          <c:h val="0.7626696241070750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'5. Web'!$O$139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'5. Web'!$N$140:$N$145</c:f>
              <c:strCache>
                <c:ptCount val="6"/>
                <c:pt idx="0">
                  <c:v>Caracol radio</c:v>
                </c:pt>
                <c:pt idx="1">
                  <c:v>Valora Analitik</c:v>
                </c:pt>
                <c:pt idx="2">
                  <c:v>El Tiempo</c:v>
                </c:pt>
                <c:pt idx="3">
                  <c:v>Infobae</c:v>
                </c:pt>
                <c:pt idx="4">
                  <c:v>Estrella Digital</c:v>
                </c:pt>
                <c:pt idx="5">
                  <c:v>Portafolio</c:v>
                </c:pt>
              </c:strCache>
            </c:strRef>
          </c:cat>
          <c:val>
            <c:numRef>
              <c:f>'5. Web'!$O$140:$O$145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7A-4C78-B0BB-F54F6AC9849A}"/>
            </c:ext>
          </c:extLst>
        </c:ser>
        <c:ser>
          <c:idx val="1"/>
          <c:order val="1"/>
          <c:tx>
            <c:strRef>
              <c:f>'5. Web'!$P$139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00B050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'5. Web'!$N$140:$N$145</c:f>
              <c:strCache>
                <c:ptCount val="6"/>
                <c:pt idx="0">
                  <c:v>Caracol radio</c:v>
                </c:pt>
                <c:pt idx="1">
                  <c:v>Valora Analitik</c:v>
                </c:pt>
                <c:pt idx="2">
                  <c:v>El Tiempo</c:v>
                </c:pt>
                <c:pt idx="3">
                  <c:v>Infobae</c:v>
                </c:pt>
                <c:pt idx="4">
                  <c:v>Estrella Digital</c:v>
                </c:pt>
                <c:pt idx="5">
                  <c:v>Portafolio</c:v>
                </c:pt>
              </c:strCache>
            </c:strRef>
          </c:cat>
          <c:val>
            <c:numRef>
              <c:f>'5. Web'!$P$140:$P$145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7A-4C78-B0BB-F54F6AC9849A}"/>
            </c:ext>
          </c:extLst>
        </c:ser>
        <c:ser>
          <c:idx val="2"/>
          <c:order val="2"/>
          <c:tx>
            <c:strRef>
              <c:f>'5. Web'!$Q$139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'5. Web'!$N$140:$N$145</c:f>
              <c:strCache>
                <c:ptCount val="6"/>
                <c:pt idx="0">
                  <c:v>Caracol radio</c:v>
                </c:pt>
                <c:pt idx="1">
                  <c:v>Valora Analitik</c:v>
                </c:pt>
                <c:pt idx="2">
                  <c:v>El Tiempo</c:v>
                </c:pt>
                <c:pt idx="3">
                  <c:v>Infobae</c:v>
                </c:pt>
                <c:pt idx="4">
                  <c:v>Estrella Digital</c:v>
                </c:pt>
                <c:pt idx="5">
                  <c:v>Portafolio</c:v>
                </c:pt>
              </c:strCache>
            </c:strRef>
          </c:cat>
          <c:val>
            <c:numRef>
              <c:f>'5. Web'!$Q$140:$Q$145</c:f>
              <c:numCache>
                <c:formatCode>General</c:formatCode>
                <c:ptCount val="6"/>
                <c:pt idx="0">
                  <c:v>6</c:v>
                </c:pt>
                <c:pt idx="1">
                  <c:v>5</c:v>
                </c:pt>
                <c:pt idx="2">
                  <c:v>3</c:v>
                </c:pt>
                <c:pt idx="3">
                  <c:v>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7A-4C78-B0BB-F54F6AC984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22564128"/>
        <c:axId val="1"/>
      </c:barChart>
      <c:catAx>
        <c:axId val="422564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22564128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10550541191700528"/>
          <c:y val="0.90597908867948884"/>
          <c:w val="0.53855035457777056"/>
          <c:h val="6.3942496693795509E-2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8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'6. RR'!$B$99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'6. RR'!$A$100:$A$119</c:f>
              <c:strCache>
                <c:ptCount val="20"/>
                <c:pt idx="0">
                  <c:v>Caracol radio</c:v>
                </c:pt>
                <c:pt idx="1">
                  <c:v>Blu Radio</c:v>
                </c:pt>
                <c:pt idx="2">
                  <c:v>El Tiempo</c:v>
                </c:pt>
                <c:pt idx="3">
                  <c:v>CARACOL NOTICIAS</c:v>
                </c:pt>
                <c:pt idx="4">
                  <c:v>Infobae</c:v>
                </c:pt>
                <c:pt idx="5">
                  <c:v>RCN NOTICIAS</c:v>
                </c:pt>
                <c:pt idx="6">
                  <c:v>Vanguardia</c:v>
                </c:pt>
                <c:pt idx="7">
                  <c:v>LA FM </c:v>
                </c:pt>
                <c:pt idx="8">
                  <c:v>Semana</c:v>
                </c:pt>
                <c:pt idx="9">
                  <c:v>Portafolio</c:v>
                </c:pt>
                <c:pt idx="10">
                  <c:v>La FM</c:v>
                </c:pt>
                <c:pt idx="11">
                  <c:v>El Colombiano</c:v>
                </c:pt>
                <c:pt idx="12">
                  <c:v>Pulzo</c:v>
                </c:pt>
                <c:pt idx="13">
                  <c:v>El Universal</c:v>
                </c:pt>
                <c:pt idx="14">
                  <c:v>El País</c:v>
                </c:pt>
                <c:pt idx="15">
                  <c:v>PRIMERA PÁGINA</c:v>
                </c:pt>
                <c:pt idx="16">
                  <c:v>El Espectador</c:v>
                </c:pt>
                <c:pt idx="17">
                  <c:v>Noticias Caracol</c:v>
                </c:pt>
                <c:pt idx="18">
                  <c:v>Asuntos Legales</c:v>
                </c:pt>
                <c:pt idx="19">
                  <c:v>Diario del Cauca</c:v>
                </c:pt>
              </c:strCache>
            </c:strRef>
          </c:cat>
          <c:val>
            <c:numRef>
              <c:f>'6. RR'!$B$100:$B$119</c:f>
              <c:numCache>
                <c:formatCode>General</c:formatCode>
                <c:ptCount val="20"/>
                <c:pt idx="0">
                  <c:v>15</c:v>
                </c:pt>
                <c:pt idx="1">
                  <c:v>8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3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1</c:v>
                </c:pt>
                <c:pt idx="12">
                  <c:v>3</c:v>
                </c:pt>
                <c:pt idx="13">
                  <c:v>3</c:v>
                </c:pt>
                <c:pt idx="14">
                  <c:v>1</c:v>
                </c:pt>
                <c:pt idx="15">
                  <c:v>3</c:v>
                </c:pt>
                <c:pt idx="16">
                  <c:v>2</c:v>
                </c:pt>
                <c:pt idx="17">
                  <c:v>1</c:v>
                </c:pt>
                <c:pt idx="18">
                  <c:v>1</c:v>
                </c:pt>
                <c:pt idx="1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97-405F-B090-5CC67803E578}"/>
            </c:ext>
          </c:extLst>
        </c:ser>
        <c:ser>
          <c:idx val="1"/>
          <c:order val="1"/>
          <c:tx>
            <c:strRef>
              <c:f>'6. RR'!$C$99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'6. RR'!$A$100:$A$119</c:f>
              <c:strCache>
                <c:ptCount val="20"/>
                <c:pt idx="0">
                  <c:v>Caracol radio</c:v>
                </c:pt>
                <c:pt idx="1">
                  <c:v>Blu Radio</c:v>
                </c:pt>
                <c:pt idx="2">
                  <c:v>El Tiempo</c:v>
                </c:pt>
                <c:pt idx="3">
                  <c:v>CARACOL NOTICIAS</c:v>
                </c:pt>
                <c:pt idx="4">
                  <c:v>Infobae</c:v>
                </c:pt>
                <c:pt idx="5">
                  <c:v>RCN NOTICIAS</c:v>
                </c:pt>
                <c:pt idx="6">
                  <c:v>Vanguardia</c:v>
                </c:pt>
                <c:pt idx="7">
                  <c:v>LA FM </c:v>
                </c:pt>
                <c:pt idx="8">
                  <c:v>Semana</c:v>
                </c:pt>
                <c:pt idx="9">
                  <c:v>Portafolio</c:v>
                </c:pt>
                <c:pt idx="10">
                  <c:v>La FM</c:v>
                </c:pt>
                <c:pt idx="11">
                  <c:v>El Colombiano</c:v>
                </c:pt>
                <c:pt idx="12">
                  <c:v>Pulzo</c:v>
                </c:pt>
                <c:pt idx="13">
                  <c:v>El Universal</c:v>
                </c:pt>
                <c:pt idx="14">
                  <c:v>El País</c:v>
                </c:pt>
                <c:pt idx="15">
                  <c:v>PRIMERA PÁGINA</c:v>
                </c:pt>
                <c:pt idx="16">
                  <c:v>El Espectador</c:v>
                </c:pt>
                <c:pt idx="17">
                  <c:v>Noticias Caracol</c:v>
                </c:pt>
                <c:pt idx="18">
                  <c:v>Asuntos Legales</c:v>
                </c:pt>
                <c:pt idx="19">
                  <c:v>Diario del Cauca</c:v>
                </c:pt>
              </c:strCache>
            </c:strRef>
          </c:cat>
          <c:val>
            <c:numRef>
              <c:f>'6. RR'!$C$100:$C$119</c:f>
              <c:numCache>
                <c:formatCode>General</c:formatCode>
                <c:ptCount val="20"/>
                <c:pt idx="0">
                  <c:v>3</c:v>
                </c:pt>
                <c:pt idx="1">
                  <c:v>3</c:v>
                </c:pt>
                <c:pt idx="2">
                  <c:v>5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1</c:v>
                </c:pt>
                <c:pt idx="12">
                  <c:v>3</c:v>
                </c:pt>
                <c:pt idx="15">
                  <c:v>2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97-405F-B090-5CC67803E578}"/>
            </c:ext>
          </c:extLst>
        </c:ser>
        <c:ser>
          <c:idx val="2"/>
          <c:order val="2"/>
          <c:tx>
            <c:strRef>
              <c:f>'6. RR'!$D$99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'6. RR'!$A$100:$A$119</c:f>
              <c:strCache>
                <c:ptCount val="20"/>
                <c:pt idx="0">
                  <c:v>Caracol radio</c:v>
                </c:pt>
                <c:pt idx="1">
                  <c:v>Blu Radio</c:v>
                </c:pt>
                <c:pt idx="2">
                  <c:v>El Tiempo</c:v>
                </c:pt>
                <c:pt idx="3">
                  <c:v>CARACOL NOTICIAS</c:v>
                </c:pt>
                <c:pt idx="4">
                  <c:v>Infobae</c:v>
                </c:pt>
                <c:pt idx="5">
                  <c:v>RCN NOTICIAS</c:v>
                </c:pt>
                <c:pt idx="6">
                  <c:v>Vanguardia</c:v>
                </c:pt>
                <c:pt idx="7">
                  <c:v>LA FM </c:v>
                </c:pt>
                <c:pt idx="8">
                  <c:v>Semana</c:v>
                </c:pt>
                <c:pt idx="9">
                  <c:v>Portafolio</c:v>
                </c:pt>
                <c:pt idx="10">
                  <c:v>La FM</c:v>
                </c:pt>
                <c:pt idx="11">
                  <c:v>El Colombiano</c:v>
                </c:pt>
                <c:pt idx="12">
                  <c:v>Pulzo</c:v>
                </c:pt>
                <c:pt idx="13">
                  <c:v>El Universal</c:v>
                </c:pt>
                <c:pt idx="14">
                  <c:v>El País</c:v>
                </c:pt>
                <c:pt idx="15">
                  <c:v>PRIMERA PÁGINA</c:v>
                </c:pt>
                <c:pt idx="16">
                  <c:v>El Espectador</c:v>
                </c:pt>
                <c:pt idx="17">
                  <c:v>Noticias Caracol</c:v>
                </c:pt>
                <c:pt idx="18">
                  <c:v>Asuntos Legales</c:v>
                </c:pt>
                <c:pt idx="19">
                  <c:v>Diario del Cauca</c:v>
                </c:pt>
              </c:strCache>
            </c:strRef>
          </c:cat>
          <c:val>
            <c:numRef>
              <c:f>'6. RR'!$D$100:$D$119</c:f>
              <c:numCache>
                <c:formatCode>General</c:formatCode>
                <c:ptCount val="20"/>
                <c:pt idx="1">
                  <c:v>1</c:v>
                </c:pt>
                <c:pt idx="4">
                  <c:v>1</c:v>
                </c:pt>
                <c:pt idx="8">
                  <c:v>1</c:v>
                </c:pt>
                <c:pt idx="17">
                  <c:v>1</c:v>
                </c:pt>
                <c:pt idx="1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97-405F-B090-5CC67803E5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216944"/>
        <c:axId val="430216616"/>
      </c:barChart>
      <c:catAx>
        <c:axId val="430216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430216616"/>
        <c:crosses val="autoZero"/>
        <c:auto val="1"/>
        <c:lblAlgn val="ctr"/>
        <c:lblOffset val="100"/>
        <c:noMultiLvlLbl val="0"/>
      </c:catAx>
      <c:valAx>
        <c:axId val="430216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430216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543662201215879E-2"/>
          <c:y val="2.37420162416026E-2"/>
          <c:w val="0.89612312926419202"/>
          <c:h val="0.57765492855059797"/>
        </c:manualLayout>
      </c:layout>
      <c:areaChart>
        <c:grouping val="stacked"/>
        <c:varyColors val="0"/>
        <c:ser>
          <c:idx val="5"/>
          <c:order val="5"/>
          <c:tx>
            <c:strRef>
              <c:f>'7. Nal - Regional'!$X$10</c:f>
              <c:strCache>
                <c:ptCount val="1"/>
                <c:pt idx="0">
                  <c:v>Audiencia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cat>
            <c:strRef>
              <c:f>'7. Nal - Regional'!$R$11:$R$16</c:f>
              <c:strCache>
                <c:ptCount val="6"/>
                <c:pt idx="0">
                  <c:v>Magdalena Medio</c:v>
                </c:pt>
                <c:pt idx="1">
                  <c:v>Región Caribe</c:v>
                </c:pt>
                <c:pt idx="2">
                  <c:v>Región Sur</c:v>
                </c:pt>
                <c:pt idx="3">
                  <c:v>Casanare y Arauca</c:v>
                </c:pt>
                <c:pt idx="4">
                  <c:v>Meta</c:v>
                </c:pt>
                <c:pt idx="5">
                  <c:v>Otros departamentos</c:v>
                </c:pt>
              </c:strCache>
            </c:strRef>
          </c:cat>
          <c:val>
            <c:numRef>
              <c:f>'7. Nal - Regional'!$X$11:$X$16</c:f>
              <c:numCache>
                <c:formatCode>#,##0_ </c:formatCode>
                <c:ptCount val="6"/>
                <c:pt idx="0">
                  <c:v>779400</c:v>
                </c:pt>
                <c:pt idx="1">
                  <c:v>291500</c:v>
                </c:pt>
                <c:pt idx="2">
                  <c:v>70450</c:v>
                </c:pt>
                <c:pt idx="3">
                  <c:v>29200</c:v>
                </c:pt>
                <c:pt idx="4">
                  <c:v>41750</c:v>
                </c:pt>
                <c:pt idx="5">
                  <c:v>1139800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1B-4EED-92C2-48202DC616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"/>
        <c:axId val="4"/>
      </c:areaChart>
      <c:barChart>
        <c:barDir val="col"/>
        <c:grouping val="clustered"/>
        <c:varyColors val="0"/>
        <c:ser>
          <c:idx val="3"/>
          <c:order val="3"/>
          <c:tx>
            <c:strRef>
              <c:f>'7. Nal - Regional'!$V$10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  <a:ln w="25400">
              <a:noFill/>
            </a:ln>
          </c:spPr>
          <c:invertIfNegative val="0"/>
          <c:cat>
            <c:strRef>
              <c:f>'7. Nal - Regional'!$R$11:$R$16</c:f>
              <c:strCache>
                <c:ptCount val="6"/>
                <c:pt idx="0">
                  <c:v>Magdalena Medio</c:v>
                </c:pt>
                <c:pt idx="1">
                  <c:v>Región Caribe</c:v>
                </c:pt>
                <c:pt idx="2">
                  <c:v>Región Sur</c:v>
                </c:pt>
                <c:pt idx="3">
                  <c:v>Casanare y Arauca</c:v>
                </c:pt>
                <c:pt idx="4">
                  <c:v>Meta</c:v>
                </c:pt>
                <c:pt idx="5">
                  <c:v>Otros departamentos</c:v>
                </c:pt>
              </c:strCache>
            </c:strRef>
          </c:cat>
          <c:val>
            <c:numRef>
              <c:f>'7. Nal - Regional'!$V$11:$V$16</c:f>
            </c:numRef>
          </c:val>
          <c:extLst>
            <c:ext xmlns:c16="http://schemas.microsoft.com/office/drawing/2014/chart" uri="{C3380CC4-5D6E-409C-BE32-E72D297353CC}">
              <c16:uniqueId val="{00000005-C81B-4EED-92C2-48202DC616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17009368"/>
        <c:axId val="1"/>
      </c:barChart>
      <c:barChart>
        <c:barDir val="col"/>
        <c:grouping val="clustered"/>
        <c:varyColors val="0"/>
        <c:ser>
          <c:idx val="0"/>
          <c:order val="0"/>
          <c:tx>
            <c:strRef>
              <c:f>'7. Nal - Regional'!$S$10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9680D"/>
            </a:solidFill>
            <a:ln w="3175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'7. Nal - Regional'!$R$11:$R$16</c:f>
              <c:strCache>
                <c:ptCount val="6"/>
                <c:pt idx="0">
                  <c:v>Magdalena Medio</c:v>
                </c:pt>
                <c:pt idx="1">
                  <c:v>Región Caribe</c:v>
                </c:pt>
                <c:pt idx="2">
                  <c:v>Región Sur</c:v>
                </c:pt>
                <c:pt idx="3">
                  <c:v>Casanare y Arauca</c:v>
                </c:pt>
                <c:pt idx="4">
                  <c:v>Meta</c:v>
                </c:pt>
                <c:pt idx="5">
                  <c:v>Otros departamentos</c:v>
                </c:pt>
              </c:strCache>
            </c:strRef>
          </c:cat>
          <c:val>
            <c:numRef>
              <c:f>'7. Nal - Regional'!$S$11:$S$16</c:f>
              <c:numCache>
                <c:formatCode>General</c:formatCode>
                <c:ptCount val="6"/>
                <c:pt idx="0">
                  <c:v>1</c:v>
                </c:pt>
                <c:pt idx="1">
                  <c:v>7</c:v>
                </c:pt>
                <c:pt idx="2">
                  <c:v>3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1B-4EED-92C2-48202DC6167A}"/>
            </c:ext>
          </c:extLst>
        </c:ser>
        <c:ser>
          <c:idx val="1"/>
          <c:order val="1"/>
          <c:tx>
            <c:strRef>
              <c:f>'7. Nal - Regional'!$T$10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'7. Nal - Regional'!$R$11:$R$16</c:f>
              <c:strCache>
                <c:ptCount val="6"/>
                <c:pt idx="0">
                  <c:v>Magdalena Medio</c:v>
                </c:pt>
                <c:pt idx="1">
                  <c:v>Región Caribe</c:v>
                </c:pt>
                <c:pt idx="2">
                  <c:v>Región Sur</c:v>
                </c:pt>
                <c:pt idx="3">
                  <c:v>Casanare y Arauca</c:v>
                </c:pt>
                <c:pt idx="4">
                  <c:v>Meta</c:v>
                </c:pt>
                <c:pt idx="5">
                  <c:v>Otros departamentos</c:v>
                </c:pt>
              </c:strCache>
            </c:strRef>
          </c:cat>
          <c:val>
            <c:numRef>
              <c:f>'7. Nal - Regional'!$T$11:$T$16</c:f>
              <c:numCache>
                <c:formatCode>General</c:formatCode>
                <c:ptCount val="6"/>
                <c:pt idx="0">
                  <c:v>4</c:v>
                </c:pt>
                <c:pt idx="1">
                  <c:v>8</c:v>
                </c:pt>
                <c:pt idx="2">
                  <c:v>4</c:v>
                </c:pt>
                <c:pt idx="3">
                  <c:v>9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1B-4EED-92C2-48202DC6167A}"/>
            </c:ext>
          </c:extLst>
        </c:ser>
        <c:ser>
          <c:idx val="2"/>
          <c:order val="2"/>
          <c:tx>
            <c:strRef>
              <c:f>'7. Nal - Regional'!$U$10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27895A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'7. Nal - Regional'!$R$11:$R$16</c:f>
              <c:strCache>
                <c:ptCount val="6"/>
                <c:pt idx="0">
                  <c:v>Magdalena Medio</c:v>
                </c:pt>
                <c:pt idx="1">
                  <c:v>Región Caribe</c:v>
                </c:pt>
                <c:pt idx="2">
                  <c:v>Región Sur</c:v>
                </c:pt>
                <c:pt idx="3">
                  <c:v>Casanare y Arauca</c:v>
                </c:pt>
                <c:pt idx="4">
                  <c:v>Meta</c:v>
                </c:pt>
                <c:pt idx="5">
                  <c:v>Otros departamentos</c:v>
                </c:pt>
              </c:strCache>
            </c:strRef>
          </c:cat>
          <c:val>
            <c:numRef>
              <c:f>'7. Nal - Regional'!$U$11:$U$16</c:f>
              <c:numCache>
                <c:formatCode>General</c:formatCode>
                <c:ptCount val="6"/>
                <c:pt idx="0">
                  <c:v>21</c:v>
                </c:pt>
                <c:pt idx="1">
                  <c:v>6</c:v>
                </c:pt>
                <c:pt idx="2">
                  <c:v>67</c:v>
                </c:pt>
                <c:pt idx="3">
                  <c:v>17</c:v>
                </c:pt>
                <c:pt idx="4">
                  <c:v>32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1B-4EED-92C2-48202DC6167A}"/>
            </c:ext>
          </c:extLst>
        </c:ser>
        <c:ser>
          <c:idx val="4"/>
          <c:order val="4"/>
          <c:tx>
            <c:strRef>
              <c:f>'7. Nal - Regional'!$W$10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'7. Nal - Regional'!$R$11:$R$16</c:f>
              <c:strCache>
                <c:ptCount val="6"/>
                <c:pt idx="0">
                  <c:v>Magdalena Medio</c:v>
                </c:pt>
                <c:pt idx="1">
                  <c:v>Región Caribe</c:v>
                </c:pt>
                <c:pt idx="2">
                  <c:v>Región Sur</c:v>
                </c:pt>
                <c:pt idx="3">
                  <c:v>Casanare y Arauca</c:v>
                </c:pt>
                <c:pt idx="4">
                  <c:v>Meta</c:v>
                </c:pt>
                <c:pt idx="5">
                  <c:v>Otros departamentos</c:v>
                </c:pt>
              </c:strCache>
            </c:strRef>
          </c:cat>
          <c:val>
            <c:numRef>
              <c:f>'7. Nal - Regional'!$W$11:$W$16</c:f>
              <c:numCache>
                <c:formatCode>General</c:formatCode>
                <c:ptCount val="6"/>
                <c:pt idx="0">
                  <c:v>26</c:v>
                </c:pt>
                <c:pt idx="1">
                  <c:v>21</c:v>
                </c:pt>
                <c:pt idx="2">
                  <c:v>74</c:v>
                </c:pt>
                <c:pt idx="3">
                  <c:v>26</c:v>
                </c:pt>
                <c:pt idx="4">
                  <c:v>32</c:v>
                </c:pt>
                <c:pt idx="5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1B-4EED-92C2-48202DC616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7009368"/>
        <c:axId val="1"/>
      </c:barChart>
      <c:catAx>
        <c:axId val="417009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17009368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numFmt formatCode="#,##0_ " sourceLinked="1"/>
        <c:majorTickMark val="out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3"/>
        <c:crosses val="max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28192590136759221"/>
          <c:y val="0.80525972044192151"/>
          <c:w val="0.38949998618593729"/>
          <c:h val="9.2500152597204455E-2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11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0.29436</cdr:x>
      <cdr:y>0.31124</cdr:y>
    </cdr:from>
    <cdr:to>
      <cdr:x>0.37748</cdr:x>
      <cdr:y>0.42788</cdr:y>
    </cdr:to>
    <cdr:sp macro="" textlink="">
      <cdr:nvSpPr>
        <cdr:cNvPr id="2" name="Rectángulo 1"/>
        <cdr:cNvSpPr/>
      </cdr:nvSpPr>
      <cdr:spPr>
        <a:xfrm xmlns:a="http://schemas.openxmlformats.org/drawingml/2006/main">
          <a:off x="2456529" y="943479"/>
          <a:ext cx="693663" cy="35357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CO" altLang="es-ES" sz="1400" b="1" dirty="0"/>
            <a:t>350</a:t>
          </a:r>
        </a:p>
      </cdr:txBody>
    </cdr:sp>
  </cdr:relSizeAnchor>
  <cdr:relSizeAnchor xmlns:cdr="http://schemas.openxmlformats.org/drawingml/2006/chartDrawing">
    <cdr:from>
      <cdr:x>0.53405</cdr:x>
      <cdr:y>0.64109</cdr:y>
    </cdr:from>
    <cdr:to>
      <cdr:x>0.58114</cdr:x>
      <cdr:y>0.76999</cdr:y>
    </cdr:to>
    <cdr:sp macro="" textlink="">
      <cdr:nvSpPr>
        <cdr:cNvPr id="3" name="Rectángulo 2"/>
        <cdr:cNvSpPr/>
      </cdr:nvSpPr>
      <cdr:spPr>
        <a:xfrm xmlns:a="http://schemas.openxmlformats.org/drawingml/2006/main">
          <a:off x="4488102" y="1903029"/>
          <a:ext cx="395739" cy="38261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ts val="1300"/>
            </a:lnSpc>
          </a:pPr>
          <a:endParaRPr lang="es-CO" altLang="es-ES" sz="1400" b="1"/>
        </a:p>
        <a:p xmlns:a="http://schemas.openxmlformats.org/drawingml/2006/main">
          <a:pPr>
            <a:lnSpc>
              <a:spcPts val="1300"/>
            </a:lnSpc>
          </a:pPr>
          <a:r>
            <a:rPr lang="es-CO" altLang="es-ES" sz="1400" b="1"/>
            <a:t>0</a:t>
          </a:r>
        </a:p>
      </cdr:txBody>
    </cdr:sp>
  </cdr:relSizeAnchor>
  <cdr:relSizeAnchor xmlns:cdr="http://schemas.openxmlformats.org/drawingml/2006/chartDrawing">
    <cdr:from>
      <cdr:x>0.73763</cdr:x>
      <cdr:y>0.15654</cdr:y>
    </cdr:from>
    <cdr:to>
      <cdr:x>0.82933</cdr:x>
      <cdr:y>0.33195</cdr:y>
    </cdr:to>
    <cdr:sp macro="" textlink="">
      <cdr:nvSpPr>
        <cdr:cNvPr id="4" name="Rectángulo 3"/>
        <cdr:cNvSpPr/>
      </cdr:nvSpPr>
      <cdr:spPr>
        <a:xfrm xmlns:a="http://schemas.openxmlformats.org/drawingml/2006/main">
          <a:off x="6155760" y="474528"/>
          <a:ext cx="765267" cy="53172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CO" altLang="es-ES" sz="1400" b="1"/>
            <a:t>580</a:t>
          </a:r>
        </a:p>
      </cdr:txBody>
    </cdr:sp>
  </cdr:relSizeAnchor>
  <cdr:relSizeAnchor xmlns:cdr="http://schemas.openxmlformats.org/drawingml/2006/chartDrawing">
    <cdr:from>
      <cdr:x>0.09812</cdr:x>
      <cdr:y>0.66741</cdr:y>
    </cdr:from>
    <cdr:to>
      <cdr:x>0.15721</cdr:x>
      <cdr:y>0.74586</cdr:y>
    </cdr:to>
    <cdr:sp macro="" textlink="">
      <cdr:nvSpPr>
        <cdr:cNvPr id="6" name="Rectángulo 5"/>
        <cdr:cNvSpPr/>
      </cdr:nvSpPr>
      <cdr:spPr>
        <a:xfrm xmlns:a="http://schemas.openxmlformats.org/drawingml/2006/main">
          <a:off x="822374" y="2023130"/>
          <a:ext cx="495235" cy="23780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ts val="1300"/>
            </a:lnSpc>
          </a:pPr>
          <a:r>
            <a:rPr lang="es-CO" altLang="es-ES" sz="1400" b="1"/>
            <a:t>25</a:t>
          </a:r>
        </a:p>
      </cdr:txBody>
    </cdr:sp>
  </cdr:relSizeAnchor>
  <cdr:relSizeAnchor xmlns:cdr="http://schemas.openxmlformats.org/drawingml/2006/chartDrawing">
    <cdr:from>
      <cdr:x>0.53267</cdr:x>
      <cdr:y>0.57707</cdr:y>
    </cdr:from>
    <cdr:to>
      <cdr:x>0.59319</cdr:x>
      <cdr:y>0.66348</cdr:y>
    </cdr:to>
    <cdr:sp macro="" textlink="">
      <cdr:nvSpPr>
        <cdr:cNvPr id="8" name="CuadroTexto 7"/>
        <cdr:cNvSpPr txBox="1"/>
      </cdr:nvSpPr>
      <cdr:spPr>
        <a:xfrm xmlns:a="http://schemas.openxmlformats.org/drawingml/2006/main">
          <a:off x="4445274" y="1749295"/>
          <a:ext cx="505059" cy="26193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s-CO" sz="1400" b="1"/>
            <a:t>4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0.33339</cdr:x>
      <cdr:y>0.02842</cdr:y>
    </cdr:from>
    <cdr:to>
      <cdr:x>0.59891</cdr:x>
      <cdr:y>0.18006</cdr:y>
    </cdr:to>
    <cdr:sp macro="" textlink="">
      <cdr:nvSpPr>
        <cdr:cNvPr id="2" name="Rectángulo 1"/>
        <cdr:cNvSpPr/>
      </cdr:nvSpPr>
      <cdr:spPr>
        <a:xfrm xmlns:a="http://schemas.openxmlformats.org/drawingml/2006/main">
          <a:off x="3724688" y="74990"/>
          <a:ext cx="2966485" cy="4001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lIns="91440" tIns="45720" rIns="91440" bIns="45720">
          <a:spAutoFit/>
        </a:bodyPr>
        <a:lstStyle xmlns:a="http://schemas.openxmlformats.org/drawingml/2006/main"/>
        <a:p xmlns:a="http://schemas.openxmlformats.org/drawingml/2006/main">
          <a:pPr algn="ctr"/>
          <a:r>
            <a:rPr lang="es-ES" sz="2000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Top 20 medios</a:t>
          </a:r>
          <a:endParaRPr lang="es-ES" sz="2000" dirty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A1CFF-A786-C149-A7CF-2BFB47C9740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D4140-0BF3-CF48-85F7-84ED8737C10E}" type="slidenum">
              <a:rPr lang="es-CO" smtClean="0"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090640" y="2132856"/>
            <a:ext cx="5631381" cy="1414114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rgbClr val="98A503"/>
                </a:solidFill>
              </a:defRPr>
            </a:lvl1pPr>
          </a:lstStyle>
          <a:p>
            <a:r>
              <a:rPr lang="es-CO"/>
              <a:t>Título de la presentación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6102440" y="3789039"/>
            <a:ext cx="5631381" cy="792088"/>
          </a:xfrm>
        </p:spPr>
        <p:txBody>
          <a:bodyPr>
            <a:normAutofit/>
          </a:bodyPr>
          <a:lstStyle>
            <a:lvl1pPr marL="0" indent="0" algn="l">
              <a:buFont typeface="Wingdings" panose="05000000000000000000" pitchFamily="2" charset="2"/>
              <a:buNone/>
              <a:defRPr sz="2000">
                <a:solidFill>
                  <a:srgbClr val="1D433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767408" y="2492896"/>
            <a:ext cx="5631381" cy="1414114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rgbClr val="98A503"/>
                </a:solidFill>
              </a:defRPr>
            </a:lvl1pPr>
          </a:lstStyle>
          <a:p>
            <a:r>
              <a:rPr lang="es-CO"/>
              <a:t>Título de la presentación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779208" y="4149079"/>
            <a:ext cx="5631381" cy="792088"/>
          </a:xfrm>
        </p:spPr>
        <p:txBody>
          <a:bodyPr>
            <a:normAutofit/>
          </a:bodyPr>
          <a:lstStyle>
            <a:lvl1pPr marL="0" indent="0" algn="l">
              <a:buFont typeface="Wingdings" panose="05000000000000000000" pitchFamily="2" charset="2"/>
              <a:buNone/>
              <a:defRPr sz="2000">
                <a:solidFill>
                  <a:srgbClr val="1D433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64618" y="5279922"/>
            <a:ext cx="11262761" cy="754391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s-CO"/>
              <a:t>Título de la presentación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464619" y="6060359"/>
            <a:ext cx="11262761" cy="517421"/>
          </a:xfrm>
        </p:spPr>
        <p:txBody>
          <a:bodyPr>
            <a:normAutofit/>
          </a:bodyPr>
          <a:lstStyle>
            <a:lvl1pPr marL="0" indent="0" algn="l">
              <a:buFont typeface="Wingdings" panose="05000000000000000000" pitchFamily="2" charset="2"/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64618" y="5279922"/>
            <a:ext cx="11262761" cy="754391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rgbClr val="98A503"/>
                </a:solidFill>
              </a:defRPr>
            </a:lvl1pPr>
          </a:lstStyle>
          <a:p>
            <a:r>
              <a:rPr lang="es-CO"/>
              <a:t>Título de la presentación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464619" y="6060359"/>
            <a:ext cx="11262761" cy="517421"/>
          </a:xfrm>
        </p:spPr>
        <p:txBody>
          <a:bodyPr>
            <a:normAutofit/>
          </a:bodyPr>
          <a:lstStyle>
            <a:lvl1pPr marL="0" indent="0" algn="l">
              <a:buFont typeface="Wingdings" panose="05000000000000000000" pitchFamily="2" charset="2"/>
              <a:buNone/>
              <a:defRPr sz="2000">
                <a:solidFill>
                  <a:srgbClr val="1D433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83432" y="2528610"/>
            <a:ext cx="7704592" cy="1800780"/>
          </a:xfrm>
        </p:spPr>
        <p:txBody>
          <a:bodyPr anchor="b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s-CO"/>
              <a:t>Título de la presentación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767408" y="1052736"/>
            <a:ext cx="5608320" cy="1019448"/>
          </a:xfrm>
        </p:spPr>
        <p:txBody>
          <a:bodyPr anchor="b">
            <a:noAutofit/>
          </a:bodyPr>
          <a:lstStyle>
            <a:lvl1pPr algn="l">
              <a:defRPr sz="6600">
                <a:solidFill>
                  <a:srgbClr val="BCD72E"/>
                </a:solidFill>
              </a:defRPr>
            </a:lvl1pPr>
          </a:lstStyle>
          <a:p>
            <a:r>
              <a:rPr lang="es-CO"/>
              <a:t>Contenido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6907237" y="841008"/>
            <a:ext cx="3999914" cy="5447249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§"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6377" y="332656"/>
            <a:ext cx="8576863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846377" y="2233285"/>
            <a:ext cx="10744200" cy="40814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Imagen con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13" b="22438"/>
          <a:stretch>
            <a:fillRect/>
          </a:stretch>
        </p:blipFill>
        <p:spPr>
          <a:xfrm>
            <a:off x="10200456" y="116632"/>
            <a:ext cx="1828800" cy="8640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n con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13" b="22438"/>
          <a:stretch>
            <a:fillRect/>
          </a:stretch>
        </p:blipFill>
        <p:spPr>
          <a:xfrm>
            <a:off x="10200456" y="5993904"/>
            <a:ext cx="1828800" cy="8640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788" y="3850204"/>
            <a:ext cx="4248472" cy="135589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36" y="1628800"/>
            <a:ext cx="5184576" cy="15806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552246" y="332249"/>
            <a:ext cx="11049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552246" y="332249"/>
            <a:ext cx="11049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166192" y="553968"/>
            <a:ext cx="10303565" cy="678483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rgbClr val="1D43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1166192" y="1322594"/>
            <a:ext cx="6929437" cy="35711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20700" y="479425"/>
            <a:ext cx="10210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20700" y="2095499"/>
            <a:ext cx="10744200" cy="4081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Rectángulo 6"/>
          <p:cNvSpPr/>
          <p:nvPr userDrawn="1"/>
        </p:nvSpPr>
        <p:spPr>
          <a:xfrm>
            <a:off x="622300" y="406400"/>
            <a:ext cx="647700" cy="101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0C85D2-6776-56D3-8866-34F5094C6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7F7DC65-6091-F146-BED3-ED2CC38E89FA}"/>
              </a:ext>
            </a:extLst>
          </p:cNvPr>
          <p:cNvSpPr txBox="1"/>
          <p:nvPr/>
        </p:nvSpPr>
        <p:spPr>
          <a:xfrm>
            <a:off x="6755900" y="766653"/>
            <a:ext cx="464381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4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Análisis </a:t>
            </a:r>
          </a:p>
          <a:p>
            <a:pPr algn="ctr"/>
            <a:r>
              <a:rPr lang="es-CO" sz="44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Monitoreo </a:t>
            </a:r>
          </a:p>
          <a:p>
            <a:pPr algn="ctr"/>
            <a:r>
              <a:rPr lang="es-CO" sz="44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Medios de comunicación </a:t>
            </a:r>
            <a:endParaRPr lang="es-CO" sz="4400" b="1" dirty="0">
              <a:solidFill>
                <a:srgbClr val="00684D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CE35FB5-4B8D-7BA9-992F-965067D5A495}"/>
              </a:ext>
            </a:extLst>
          </p:cNvPr>
          <p:cNvSpPr txBox="1"/>
          <p:nvPr/>
        </p:nvSpPr>
        <p:spPr>
          <a:xfrm>
            <a:off x="6282814" y="3699892"/>
            <a:ext cx="5486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Febrero </a:t>
            </a:r>
            <a:r>
              <a:rPr lang="es-CO" sz="24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09 </a:t>
            </a:r>
            <a:r>
              <a:rPr lang="es-CO" sz="24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 febrero </a:t>
            </a:r>
            <a:r>
              <a:rPr lang="es-CO" sz="24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15</a:t>
            </a:r>
            <a:r>
              <a:rPr lang="es-CO" sz="24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s-CO" sz="24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 2026</a:t>
            </a:r>
          </a:p>
          <a:p>
            <a:pPr algn="ctr"/>
            <a:endParaRPr lang="es-CO" sz="2400" b="1" dirty="0" smtClean="0">
              <a:solidFill>
                <a:srgbClr val="00684D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algn="ctr"/>
            <a:r>
              <a:rPr lang="es-CO" sz="24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Jefatura de Comunicaciones </a:t>
            </a:r>
            <a:r>
              <a:rPr lang="es-CO" sz="2400" b="1" dirty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E</a:t>
            </a:r>
            <a:r>
              <a:rPr lang="es-CO" sz="24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xternas y Prensa</a:t>
            </a:r>
          </a:p>
        </p:txBody>
      </p:sp>
    </p:spTree>
    <p:extLst>
      <p:ext uri="{BB962C8B-B14F-4D97-AF65-F5344CB8AC3E}">
        <p14:creationId xmlns:p14="http://schemas.microsoft.com/office/powerpoint/2010/main" val="238049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E22A1B12-813B-4A44-DACE-FEE516F9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21D86F-EC94-89E0-0250-4153E720A08E}"/>
              </a:ext>
            </a:extLst>
          </p:cNvPr>
          <p:cNvSpPr txBox="1"/>
          <p:nvPr/>
        </p:nvSpPr>
        <p:spPr>
          <a:xfrm>
            <a:off x="126254" y="701191"/>
            <a:ext cx="11749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Comportamiento y temáticas principales </a:t>
            </a:r>
            <a:endParaRPr lang="es-CO" sz="3600" b="1" dirty="0">
              <a:solidFill>
                <a:srgbClr val="00684D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313528" y="265217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Febrero </a:t>
            </a:r>
            <a:r>
              <a:rPr lang="es-CO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 </a:t>
            </a:r>
            <a:r>
              <a:rPr lang="es-CO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febrero </a:t>
            </a:r>
            <a:r>
              <a:rPr lang="es-CO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s-CO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CO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2026</a:t>
            </a:r>
            <a:endParaRPr lang="es-CO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333153" y="1420003"/>
            <a:ext cx="1795508" cy="1023937"/>
          </a:xfrm>
          <a:prstGeom prst="rect">
            <a:avLst/>
          </a:prstGeom>
          <a:solidFill>
            <a:srgbClr val="3C35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altLang="es-ES" sz="28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  <a:sym typeface="+mn-ea"/>
              </a:rPr>
              <a:t>583</a:t>
            </a:r>
            <a:endParaRPr lang="es-CO" altLang="es-ES" sz="28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397756" y="2137691"/>
            <a:ext cx="17540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Publicaciones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2195556" y="1420002"/>
            <a:ext cx="6677940" cy="102393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         </a:t>
            </a:r>
            <a:r>
              <a:rPr lang="es-CO" sz="2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375</a:t>
            </a:r>
            <a:endParaRPr lang="es-CO" b="1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s-CO" sz="2800" b="1" dirty="0">
              <a:solidFill>
                <a:schemeClr val="bg1"/>
              </a:solidFill>
              <a:latin typeface="Eco Sans Medium" pitchFamily="2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2275340" y="1868324"/>
            <a:ext cx="274585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el </a:t>
            </a:r>
            <a:r>
              <a:rPr lang="es-CO" sz="1000" dirty="0">
                <a:solidFill>
                  <a:schemeClr val="bg1"/>
                </a:solidFill>
                <a:latin typeface="Arial Black" panose="020B0A04020102020204" pitchFamily="34" charset="0"/>
              </a:rPr>
              <a:t>volumen total de la </a:t>
            </a:r>
            <a:r>
              <a:rPr lang="es-CO" sz="1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conversación</a:t>
            </a:r>
          </a:p>
          <a:p>
            <a:pPr algn="ctr"/>
            <a:endParaRPr lang="es-CO" sz="1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s-CO" sz="1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3020403" y="2038155"/>
            <a:ext cx="13562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64,3</a:t>
            </a:r>
            <a:r>
              <a:rPr lang="es-ES" sz="22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 </a:t>
            </a:r>
            <a:r>
              <a:rPr lang="es-ES" sz="22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%</a:t>
            </a:r>
            <a:endParaRPr lang="es-CO" sz="2400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4985959" y="1460582"/>
            <a:ext cx="18229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Publicaciones </a:t>
            </a:r>
          </a:p>
          <a:p>
            <a:pPr algn="ctr"/>
            <a:r>
              <a:rPr lang="es-CO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directas</a:t>
            </a:r>
          </a:p>
        </p:txBody>
      </p:sp>
      <p:sp>
        <p:nvSpPr>
          <p:cNvPr id="16" name="Rectángulo 15"/>
          <p:cNvSpPr/>
          <p:nvPr/>
        </p:nvSpPr>
        <p:spPr>
          <a:xfrm>
            <a:off x="4775209" y="1944831"/>
            <a:ext cx="6096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bg1"/>
                </a:solidFill>
                <a:latin typeface="Arial Black" panose="020B0A04020102020204" pitchFamily="34" charset="0"/>
              </a:rPr>
              <a:t>Empresa o Grupo Empresarial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bg1"/>
                </a:solidFill>
                <a:latin typeface="Arial Black" panose="020B0A04020102020204" pitchFamily="34" charset="0"/>
              </a:rPr>
              <a:t>Financiera - especializadas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bg1"/>
                </a:solidFill>
                <a:latin typeface="Arial Black" panose="020B0A04020102020204" pitchFamily="34" charset="0"/>
              </a:rPr>
              <a:t>Presidente – Ricardo Roa</a:t>
            </a:r>
          </a:p>
        </p:txBody>
      </p:sp>
      <p:sp>
        <p:nvSpPr>
          <p:cNvPr id="18" name="Flecha: hacia abajo 32"/>
          <p:cNvSpPr/>
          <p:nvPr/>
        </p:nvSpPr>
        <p:spPr>
          <a:xfrm rot="21359885" flipV="1">
            <a:off x="5703844" y="1126957"/>
            <a:ext cx="290830" cy="19223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00">
              <a:solidFill>
                <a:schemeClr val="bg1"/>
              </a:solidFill>
              <a:latin typeface="Eco Sans Medium" pitchFamily="2" charset="0"/>
            </a:endParaRPr>
          </a:p>
        </p:txBody>
      </p:sp>
      <p:sp>
        <p:nvSpPr>
          <p:cNvPr id="19" name="Flecha arriba 18"/>
          <p:cNvSpPr/>
          <p:nvPr/>
        </p:nvSpPr>
        <p:spPr>
          <a:xfrm rot="21372347">
            <a:off x="7316273" y="1624967"/>
            <a:ext cx="384202" cy="285429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/>
          <p:cNvSpPr txBox="1"/>
          <p:nvPr/>
        </p:nvSpPr>
        <p:spPr>
          <a:xfrm>
            <a:off x="7284463" y="2052540"/>
            <a:ext cx="15964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dirty="0">
                <a:solidFill>
                  <a:schemeClr val="bg1"/>
                </a:solidFill>
                <a:latin typeface="Arial Black" panose="020B0A04020102020204" pitchFamily="34" charset="0"/>
              </a:rPr>
              <a:t>vs. </a:t>
            </a:r>
            <a:r>
              <a:rPr lang="es-CO" sz="1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semana </a:t>
            </a:r>
            <a:r>
              <a:rPr lang="es-CO" sz="1000" dirty="0">
                <a:solidFill>
                  <a:schemeClr val="bg1"/>
                </a:solidFill>
                <a:latin typeface="Arial Black" panose="020B0A04020102020204" pitchFamily="34" charset="0"/>
              </a:rPr>
              <a:t>anterior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7748473" y="1595197"/>
            <a:ext cx="122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12,5 </a:t>
            </a:r>
            <a:r>
              <a:rPr lang="es-ES" b="1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%</a:t>
            </a:r>
            <a:endParaRPr lang="es-CO" b="1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Rectángulo 21"/>
          <p:cNvSpPr/>
          <p:nvPr/>
        </p:nvSpPr>
        <p:spPr>
          <a:xfrm>
            <a:off x="8968759" y="1439651"/>
            <a:ext cx="2878843" cy="10239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         Publicaciones </a:t>
            </a:r>
            <a:endParaRPr lang="es-CO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s-CO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      indirectas</a:t>
            </a:r>
            <a:endParaRPr lang="es-CO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9092337" y="1722153"/>
            <a:ext cx="111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35,7%</a:t>
            </a:r>
            <a:endParaRPr lang="es-CO" b="1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6431858" y="4958257"/>
            <a:ext cx="3536227" cy="25772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CO" sz="2000" b="1" dirty="0">
                <a:solidFill>
                  <a:srgbClr val="3C357B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s-CO" sz="2000" b="1" dirty="0">
                <a:solidFill>
                  <a:srgbClr val="3C357B"/>
                </a:solidFill>
                <a:latin typeface="Arial Black" panose="020B0A04020102020204" pitchFamily="34" charset="0"/>
              </a:rPr>
              <a:t>Potencial </a:t>
            </a:r>
            <a:r>
              <a:rPr lang="es-CO" sz="2000" b="1" dirty="0" smtClean="0">
                <a:solidFill>
                  <a:srgbClr val="3C357B"/>
                </a:solidFill>
                <a:latin typeface="Arial Black" panose="020B0A04020102020204" pitchFamily="34" charset="0"/>
              </a:rPr>
              <a:t>audiencia  </a:t>
            </a:r>
            <a:r>
              <a:rPr lang="es-CO" sz="2000" b="1" dirty="0">
                <a:solidFill>
                  <a:srgbClr val="3C357B"/>
                </a:solidFill>
                <a:latin typeface="Arial Black" panose="020B0A04020102020204" pitchFamily="34" charset="0"/>
              </a:rPr>
              <a:t>publicaciones directas</a:t>
            </a:r>
          </a:p>
          <a:p>
            <a:r>
              <a:rPr lang="es-CO" sz="2400" b="1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40</a:t>
            </a:r>
            <a:r>
              <a:rPr lang="es-CO" sz="2400" b="1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.087.550</a:t>
            </a:r>
            <a:endParaRPr lang="es-CO" sz="2400" b="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503577"/>
              </p:ext>
            </p:extLst>
          </p:nvPr>
        </p:nvGraphicFramePr>
        <p:xfrm>
          <a:off x="622300" y="3181276"/>
          <a:ext cx="5473700" cy="2857500"/>
        </p:xfrm>
        <a:graphic>
          <a:graphicData uri="http://schemas.openxmlformats.org/drawingml/2006/table">
            <a:tbl>
              <a:tblPr/>
              <a:tblGrid>
                <a:gridCol w="2413000">
                  <a:extLst>
                    <a:ext uri="{9D8B030D-6E8A-4147-A177-3AD203B41FA5}">
                      <a16:colId xmlns:a16="http://schemas.microsoft.com/office/drawing/2014/main" val="1519749242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3054496937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71881196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42672008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8842080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2303527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#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Audiencia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Negativa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Neutra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Positiva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6307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Financieras Especializadas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277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Finanzas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1.600.859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5828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Imputación Presidente Ricardo Roa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2.772.922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6941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Grupo Empresarial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4658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Inversión social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1.481.300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065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Imputación Presidente Ricardo Roa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22.190.207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517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657.896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5204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5.466.101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9314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Exploración y producción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827.583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8699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Refinería de Barranca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861.396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2020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Inversión social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257.340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0922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Entorno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1.774.930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3603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Contratación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405.256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5830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Opinión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758.366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67264"/>
                  </a:ext>
                </a:extLst>
              </a:tr>
            </a:tbl>
          </a:graphicData>
        </a:graphic>
      </p:graphicFrame>
      <p:graphicFrame>
        <p:nvGraphicFramePr>
          <p:cNvPr id="27" name="Gráfico 26">
            <a:extLst>
              <a:ext uri="{FF2B5EF4-FFF2-40B4-BE49-F238E27FC236}">
                <a16:creationId xmlns:a16="http://schemas.microsoft.com/office/drawing/2014/main" id="{00000000-0008-0000-0100-000048F0B3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2220066"/>
              </p:ext>
            </p:extLst>
          </p:nvPr>
        </p:nvGraphicFramePr>
        <p:xfrm>
          <a:off x="6288122" y="2540095"/>
          <a:ext cx="3823697" cy="2454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5632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1AF7BA0-1A30-C1BE-E2B6-3AF9D1D5A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21D86F-EC94-89E0-0250-4153E720A08E}"/>
              </a:ext>
            </a:extLst>
          </p:cNvPr>
          <p:cNvSpPr txBox="1"/>
          <p:nvPr/>
        </p:nvSpPr>
        <p:spPr>
          <a:xfrm>
            <a:off x="541361" y="544371"/>
            <a:ext cx="1110927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Publicaciones y audiencia por sentimiento </a:t>
            </a:r>
            <a:br>
              <a:rPr lang="es-CO" sz="4000" b="1" dirty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</a:br>
            <a:endParaRPr lang="es-CO" sz="3600" b="1" dirty="0">
              <a:solidFill>
                <a:srgbClr val="00684D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159767" y="5164422"/>
            <a:ext cx="27534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Temas con mayores publicaciones por sentimiento y audiencia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863783" y="255048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Febrero 09  a febrero 15  de 2026</a:t>
            </a:r>
            <a:endParaRPr lang="es-CO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7703479" y="5225977"/>
            <a:ext cx="62050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rgbClr val="3C357B"/>
                </a:solidFill>
              </a:rPr>
              <a:t>Total publicaciones </a:t>
            </a:r>
            <a:br>
              <a:rPr lang="es-CO" sz="1400" dirty="0">
                <a:solidFill>
                  <a:srgbClr val="3C357B"/>
                </a:solidFill>
              </a:rPr>
            </a:br>
            <a:r>
              <a:rPr lang="es-CO" sz="1400" b="1" dirty="0" smtClean="0">
                <a:solidFill>
                  <a:srgbClr val="000000"/>
                </a:solidFill>
              </a:rPr>
              <a:t>580</a:t>
            </a:r>
            <a:endParaRPr lang="es-CO" sz="1400" b="1" dirty="0" smtClean="0">
              <a:solidFill>
                <a:srgbClr val="000000"/>
              </a:solidFill>
            </a:endParaRPr>
          </a:p>
          <a:p>
            <a:r>
              <a:rPr lang="es-CO" sz="1400" dirty="0" smtClean="0">
                <a:solidFill>
                  <a:srgbClr val="3C357B"/>
                </a:solidFill>
              </a:rPr>
              <a:t>Potencial audiencia </a:t>
            </a:r>
            <a:r>
              <a:rPr lang="es-CO" sz="1400" dirty="0">
                <a:solidFill>
                  <a:srgbClr val="3C357B"/>
                </a:solidFill>
              </a:rPr>
              <a:t>alcanzada </a:t>
            </a:r>
          </a:p>
          <a:p>
            <a:pPr algn="just"/>
            <a:r>
              <a:rPr lang="es-CO" sz="1400" b="1" dirty="0" smtClean="0">
                <a:solidFill>
                  <a:srgbClr val="000000"/>
                </a:solidFill>
              </a:rPr>
              <a:t>104</a:t>
            </a:r>
            <a:r>
              <a:rPr lang="es-CO" sz="1400" b="1" dirty="0" smtClean="0">
                <a:solidFill>
                  <a:srgbClr val="000000"/>
                </a:solidFill>
              </a:rPr>
              <a:t>.098.145</a:t>
            </a:r>
            <a:endParaRPr lang="es-CO" sz="1400" b="1" dirty="0">
              <a:solidFill>
                <a:srgbClr val="000000"/>
              </a:solidFill>
            </a:endParaRP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00000000-0008-0000-0200-0000A6419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2607040"/>
              </p:ext>
            </p:extLst>
          </p:nvPr>
        </p:nvGraphicFramePr>
        <p:xfrm>
          <a:off x="1082040" y="1836210"/>
          <a:ext cx="9906000" cy="2711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713172"/>
              </p:ext>
            </p:extLst>
          </p:nvPr>
        </p:nvGraphicFramePr>
        <p:xfrm>
          <a:off x="2549683" y="5089115"/>
          <a:ext cx="5076509" cy="1152525"/>
        </p:xfrm>
        <a:graphic>
          <a:graphicData uri="http://schemas.openxmlformats.org/drawingml/2006/table">
            <a:tbl>
              <a:tblPr/>
              <a:tblGrid>
                <a:gridCol w="2467793">
                  <a:extLst>
                    <a:ext uri="{9D8B030D-6E8A-4147-A177-3AD203B41FA5}">
                      <a16:colId xmlns:a16="http://schemas.microsoft.com/office/drawing/2014/main" val="4103629053"/>
                    </a:ext>
                  </a:extLst>
                </a:gridCol>
                <a:gridCol w="445710">
                  <a:extLst>
                    <a:ext uri="{9D8B030D-6E8A-4147-A177-3AD203B41FA5}">
                      <a16:colId xmlns:a16="http://schemas.microsoft.com/office/drawing/2014/main" val="1891529740"/>
                    </a:ext>
                  </a:extLst>
                </a:gridCol>
                <a:gridCol w="393274">
                  <a:extLst>
                    <a:ext uri="{9D8B030D-6E8A-4147-A177-3AD203B41FA5}">
                      <a16:colId xmlns:a16="http://schemas.microsoft.com/office/drawing/2014/main" val="3416980458"/>
                    </a:ext>
                  </a:extLst>
                </a:gridCol>
                <a:gridCol w="406383">
                  <a:extLst>
                    <a:ext uri="{9D8B030D-6E8A-4147-A177-3AD203B41FA5}">
                      <a16:colId xmlns:a16="http://schemas.microsoft.com/office/drawing/2014/main" val="2555713287"/>
                    </a:ext>
                  </a:extLst>
                </a:gridCol>
                <a:gridCol w="432601">
                  <a:extLst>
                    <a:ext uri="{9D8B030D-6E8A-4147-A177-3AD203B41FA5}">
                      <a16:colId xmlns:a16="http://schemas.microsoft.com/office/drawing/2014/main" val="3361891202"/>
                    </a:ext>
                  </a:extLst>
                </a:gridCol>
                <a:gridCol w="930748">
                  <a:extLst>
                    <a:ext uri="{9D8B030D-6E8A-4147-A177-3AD203B41FA5}">
                      <a16:colId xmlns:a16="http://schemas.microsoft.com/office/drawing/2014/main" val="421709781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Neg.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Neu.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Audiencia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4092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Imputación Presidente Ricardo Roa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24.963.129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8177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Inversión social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1.481.300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2466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657.896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5552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5.466.101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2282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Exploración y producción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827.583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645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826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1AF7BA0-1A30-C1BE-E2B6-3AF9D1D5A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21D86F-EC94-89E0-0250-4153E720A08E}"/>
              </a:ext>
            </a:extLst>
          </p:cNvPr>
          <p:cNvSpPr txBox="1"/>
          <p:nvPr/>
        </p:nvSpPr>
        <p:spPr>
          <a:xfrm>
            <a:off x="432592" y="481470"/>
            <a:ext cx="1110927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Desempeño por </a:t>
            </a:r>
            <a:r>
              <a:rPr lang="es-CO" sz="4000" b="1" dirty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sentimiento </a:t>
            </a:r>
            <a:br>
              <a:rPr lang="es-CO" sz="4000" b="1" dirty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</a:br>
            <a:endParaRPr lang="es-CO" sz="3600" b="1" dirty="0">
              <a:solidFill>
                <a:srgbClr val="00684D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568656" y="272155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Febrero 09  a febrero 15  de 2026</a:t>
            </a:r>
            <a:endParaRPr lang="es-CO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10748921" y="2320096"/>
            <a:ext cx="1118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smtClean="0">
                <a:solidFill>
                  <a:srgbClr val="00684D"/>
                </a:solidFill>
                <a:latin typeface="Arial Black" panose="020B0A04020102020204" pitchFamily="34" charset="0"/>
              </a:rPr>
              <a:t>12,5%</a:t>
            </a:r>
            <a:r>
              <a:rPr lang="es-ES" dirty="0" smtClean="0">
                <a:solidFill>
                  <a:srgbClr val="00684D"/>
                </a:solidFill>
                <a:latin typeface="Arial Black" panose="020B0A04020102020204" pitchFamily="34" charset="0"/>
              </a:rPr>
              <a:t>  </a:t>
            </a:r>
            <a:endParaRPr lang="es-CO" dirty="0">
              <a:solidFill>
                <a:srgbClr val="00684D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9893922" y="2808985"/>
            <a:ext cx="1973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vs. semana anterior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1280345" y="4870288"/>
            <a:ext cx="5812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smtClean="0">
                <a:solidFill>
                  <a:srgbClr val="00684D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Feb. </a:t>
            </a:r>
            <a:r>
              <a:rPr lang="es-ES" sz="2400" b="1" dirty="0">
                <a:solidFill>
                  <a:srgbClr val="00684D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</a:t>
            </a:r>
            <a:r>
              <a:rPr lang="es-ES" sz="2400" b="1" dirty="0" smtClean="0">
                <a:solidFill>
                  <a:srgbClr val="00684D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 a feb. 08 </a:t>
            </a:r>
            <a:endParaRPr lang="es-CO" sz="2400" b="1" dirty="0">
              <a:solidFill>
                <a:srgbClr val="00684D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6870064" y="4804136"/>
            <a:ext cx="5656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smtClean="0">
                <a:solidFill>
                  <a:srgbClr val="00684D"/>
                </a:solidFill>
                <a:latin typeface="Arial Black" panose="020B0A04020102020204" pitchFamily="34" charset="0"/>
              </a:rPr>
              <a:t>Feb. </a:t>
            </a:r>
            <a:r>
              <a:rPr lang="es-ES" sz="2400" b="1" dirty="0">
                <a:solidFill>
                  <a:srgbClr val="00684D"/>
                </a:solidFill>
                <a:latin typeface="Arial Black" panose="020B0A04020102020204" pitchFamily="34" charset="0"/>
              </a:rPr>
              <a:t>0</a:t>
            </a:r>
            <a:r>
              <a:rPr lang="es-ES" sz="2400" b="1" dirty="0" smtClean="0">
                <a:solidFill>
                  <a:srgbClr val="00684D"/>
                </a:solidFill>
                <a:latin typeface="Arial Black" panose="020B0A04020102020204" pitchFamily="34" charset="0"/>
              </a:rPr>
              <a:t>9 </a:t>
            </a:r>
            <a:r>
              <a:rPr lang="es-ES" sz="2400" b="1" dirty="0" smtClean="0">
                <a:solidFill>
                  <a:srgbClr val="00684D"/>
                </a:solidFill>
                <a:latin typeface="Arial Black" panose="020B0A04020102020204" pitchFamily="34" charset="0"/>
              </a:rPr>
              <a:t>a </a:t>
            </a:r>
            <a:r>
              <a:rPr lang="es-ES" sz="2400" b="1" dirty="0" smtClean="0">
                <a:solidFill>
                  <a:srgbClr val="00684D"/>
                </a:solidFill>
                <a:latin typeface="Arial Black" panose="020B0A04020102020204" pitchFamily="34" charset="0"/>
              </a:rPr>
              <a:t>feb</a:t>
            </a:r>
            <a:r>
              <a:rPr lang="es-ES" sz="2400" b="1" dirty="0" smtClean="0">
                <a:solidFill>
                  <a:srgbClr val="00684D"/>
                </a:solidFill>
                <a:latin typeface="Arial Black" panose="020B0A04020102020204" pitchFamily="34" charset="0"/>
              </a:rPr>
              <a:t>. 15</a:t>
            </a:r>
            <a:endParaRPr lang="es-CO" sz="2400" b="1" dirty="0">
              <a:solidFill>
                <a:srgbClr val="00684D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Flecha abajo 3"/>
          <p:cNvSpPr/>
          <p:nvPr/>
        </p:nvSpPr>
        <p:spPr>
          <a:xfrm rot="10800000">
            <a:off x="10390667" y="2313299"/>
            <a:ext cx="434973" cy="339776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/>
          <p:cNvSpPr txBox="1"/>
          <p:nvPr/>
        </p:nvSpPr>
        <p:spPr>
          <a:xfrm>
            <a:off x="1544036" y="3125545"/>
            <a:ext cx="5893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smtClean="0">
                <a:solidFill>
                  <a:srgbClr val="00684D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Ene. 25 a feb. 01 </a:t>
            </a:r>
            <a:endParaRPr lang="es-CO" sz="2400" b="1" dirty="0">
              <a:solidFill>
                <a:srgbClr val="00684D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980300"/>
              </p:ext>
            </p:extLst>
          </p:nvPr>
        </p:nvGraphicFramePr>
        <p:xfrm>
          <a:off x="228030" y="3637205"/>
          <a:ext cx="4908374" cy="1166930"/>
        </p:xfrm>
        <a:graphic>
          <a:graphicData uri="http://schemas.openxmlformats.org/drawingml/2006/table">
            <a:tbl>
              <a:tblPr/>
              <a:tblGrid>
                <a:gridCol w="2144043">
                  <a:extLst>
                    <a:ext uri="{9D8B030D-6E8A-4147-A177-3AD203B41FA5}">
                      <a16:colId xmlns:a16="http://schemas.microsoft.com/office/drawing/2014/main" val="2907762221"/>
                    </a:ext>
                  </a:extLst>
                </a:gridCol>
                <a:gridCol w="471959">
                  <a:extLst>
                    <a:ext uri="{9D8B030D-6E8A-4147-A177-3AD203B41FA5}">
                      <a16:colId xmlns:a16="http://schemas.microsoft.com/office/drawing/2014/main" val="3185195401"/>
                    </a:ext>
                  </a:extLst>
                </a:gridCol>
                <a:gridCol w="471959">
                  <a:extLst>
                    <a:ext uri="{9D8B030D-6E8A-4147-A177-3AD203B41FA5}">
                      <a16:colId xmlns:a16="http://schemas.microsoft.com/office/drawing/2014/main" val="22343693"/>
                    </a:ext>
                  </a:extLst>
                </a:gridCol>
                <a:gridCol w="418021">
                  <a:extLst>
                    <a:ext uri="{9D8B030D-6E8A-4147-A177-3AD203B41FA5}">
                      <a16:colId xmlns:a16="http://schemas.microsoft.com/office/drawing/2014/main" val="2415251284"/>
                    </a:ext>
                  </a:extLst>
                </a:gridCol>
                <a:gridCol w="444990">
                  <a:extLst>
                    <a:ext uri="{9D8B030D-6E8A-4147-A177-3AD203B41FA5}">
                      <a16:colId xmlns:a16="http://schemas.microsoft.com/office/drawing/2014/main" val="2772569629"/>
                    </a:ext>
                  </a:extLst>
                </a:gridCol>
                <a:gridCol w="957402">
                  <a:extLst>
                    <a:ext uri="{9D8B030D-6E8A-4147-A177-3AD203B41FA5}">
                      <a16:colId xmlns:a16="http://schemas.microsoft.com/office/drawing/2014/main" val="3585690279"/>
                    </a:ext>
                  </a:extLst>
                </a:gridCol>
              </a:tblGrid>
              <a:tr h="20252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Neg.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Neu.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Audiencia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211112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Crisis Colombia – Ecuador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32.309.099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93671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Inversión social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576.416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302422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Transición energética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898.713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804952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Afloramiento de crudo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950.150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3300656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1.669.832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042713"/>
                  </a:ext>
                </a:extLst>
              </a:tr>
            </a:tbl>
          </a:graphicData>
        </a:graphic>
      </p:graphicFrame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413169"/>
              </p:ext>
            </p:extLst>
          </p:nvPr>
        </p:nvGraphicFramePr>
        <p:xfrm>
          <a:off x="221504" y="5272599"/>
          <a:ext cx="5136405" cy="1152525"/>
        </p:xfrm>
        <a:graphic>
          <a:graphicData uri="http://schemas.openxmlformats.org/drawingml/2006/table">
            <a:tbl>
              <a:tblPr/>
              <a:tblGrid>
                <a:gridCol w="2496910">
                  <a:extLst>
                    <a:ext uri="{9D8B030D-6E8A-4147-A177-3AD203B41FA5}">
                      <a16:colId xmlns:a16="http://schemas.microsoft.com/office/drawing/2014/main" val="1735030576"/>
                    </a:ext>
                  </a:extLst>
                </a:gridCol>
                <a:gridCol w="450969">
                  <a:extLst>
                    <a:ext uri="{9D8B030D-6E8A-4147-A177-3AD203B41FA5}">
                      <a16:colId xmlns:a16="http://schemas.microsoft.com/office/drawing/2014/main" val="1430302779"/>
                    </a:ext>
                  </a:extLst>
                </a:gridCol>
                <a:gridCol w="397914">
                  <a:extLst>
                    <a:ext uri="{9D8B030D-6E8A-4147-A177-3AD203B41FA5}">
                      <a16:colId xmlns:a16="http://schemas.microsoft.com/office/drawing/2014/main" val="651256562"/>
                    </a:ext>
                  </a:extLst>
                </a:gridCol>
                <a:gridCol w="411178">
                  <a:extLst>
                    <a:ext uri="{9D8B030D-6E8A-4147-A177-3AD203B41FA5}">
                      <a16:colId xmlns:a16="http://schemas.microsoft.com/office/drawing/2014/main" val="3132379745"/>
                    </a:ext>
                  </a:extLst>
                </a:gridCol>
                <a:gridCol w="437705">
                  <a:extLst>
                    <a:ext uri="{9D8B030D-6E8A-4147-A177-3AD203B41FA5}">
                      <a16:colId xmlns:a16="http://schemas.microsoft.com/office/drawing/2014/main" val="2880951199"/>
                    </a:ext>
                  </a:extLst>
                </a:gridCol>
                <a:gridCol w="941729">
                  <a:extLst>
                    <a:ext uri="{9D8B030D-6E8A-4147-A177-3AD203B41FA5}">
                      <a16:colId xmlns:a16="http://schemas.microsoft.com/office/drawing/2014/main" val="80056606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Neg.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Neu.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Audiencia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8182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14.369.682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0016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Visita de Petro a Estados Unidos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13.778.368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98973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Junta Directiva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8.540.506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20827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Inversión social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462.270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9833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Finanzas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3.126.859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068670"/>
                  </a:ext>
                </a:extLst>
              </a:tr>
            </a:tbl>
          </a:graphicData>
        </a:graphic>
      </p:graphicFrame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00000000-0008-0000-03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7050529"/>
              </p:ext>
            </p:extLst>
          </p:nvPr>
        </p:nvGraphicFramePr>
        <p:xfrm>
          <a:off x="480792" y="1234096"/>
          <a:ext cx="97383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Tabla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006091"/>
              </p:ext>
            </p:extLst>
          </p:nvPr>
        </p:nvGraphicFramePr>
        <p:xfrm>
          <a:off x="5444513" y="5276589"/>
          <a:ext cx="5076509" cy="1152525"/>
        </p:xfrm>
        <a:graphic>
          <a:graphicData uri="http://schemas.openxmlformats.org/drawingml/2006/table">
            <a:tbl>
              <a:tblPr/>
              <a:tblGrid>
                <a:gridCol w="2467793">
                  <a:extLst>
                    <a:ext uri="{9D8B030D-6E8A-4147-A177-3AD203B41FA5}">
                      <a16:colId xmlns:a16="http://schemas.microsoft.com/office/drawing/2014/main" val="4103629053"/>
                    </a:ext>
                  </a:extLst>
                </a:gridCol>
                <a:gridCol w="445710">
                  <a:extLst>
                    <a:ext uri="{9D8B030D-6E8A-4147-A177-3AD203B41FA5}">
                      <a16:colId xmlns:a16="http://schemas.microsoft.com/office/drawing/2014/main" val="1891529740"/>
                    </a:ext>
                  </a:extLst>
                </a:gridCol>
                <a:gridCol w="393274">
                  <a:extLst>
                    <a:ext uri="{9D8B030D-6E8A-4147-A177-3AD203B41FA5}">
                      <a16:colId xmlns:a16="http://schemas.microsoft.com/office/drawing/2014/main" val="3416980458"/>
                    </a:ext>
                  </a:extLst>
                </a:gridCol>
                <a:gridCol w="406383">
                  <a:extLst>
                    <a:ext uri="{9D8B030D-6E8A-4147-A177-3AD203B41FA5}">
                      <a16:colId xmlns:a16="http://schemas.microsoft.com/office/drawing/2014/main" val="2555713287"/>
                    </a:ext>
                  </a:extLst>
                </a:gridCol>
                <a:gridCol w="432601">
                  <a:extLst>
                    <a:ext uri="{9D8B030D-6E8A-4147-A177-3AD203B41FA5}">
                      <a16:colId xmlns:a16="http://schemas.microsoft.com/office/drawing/2014/main" val="3361891202"/>
                    </a:ext>
                  </a:extLst>
                </a:gridCol>
                <a:gridCol w="930748">
                  <a:extLst>
                    <a:ext uri="{9D8B030D-6E8A-4147-A177-3AD203B41FA5}">
                      <a16:colId xmlns:a16="http://schemas.microsoft.com/office/drawing/2014/main" val="421709781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Neg.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Neu.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Audiencia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4092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Imputación Presidente Ricardo Roa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24.963.129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8177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Inversión social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1.481.300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2466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657.896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5552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5.466.101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2282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Exploración y producción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827.583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645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954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1AF7BA0-1A30-C1BE-E2B6-3AF9D1D5A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510555" y="359967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Febrero 09  a febrero 15  de 2026</a:t>
            </a:r>
            <a:endParaRPr lang="es-CO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0" y="852409"/>
            <a:ext cx="1248841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4000" b="1" dirty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Top 20 que más publicaron por sentimiento </a:t>
            </a:r>
            <a:endParaRPr lang="es-CO" sz="40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510555" y="5507549"/>
            <a:ext cx="55439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rgbClr val="00684D"/>
                </a:solidFill>
              </a:rPr>
              <a:t>En total </a:t>
            </a:r>
            <a:r>
              <a:rPr lang="es-MX" sz="2400" b="1" dirty="0">
                <a:solidFill>
                  <a:srgbClr val="00684D"/>
                </a:solidFill>
              </a:rPr>
              <a:t>20 </a:t>
            </a:r>
            <a:r>
              <a:rPr lang="es-MX" sz="2400" dirty="0">
                <a:solidFill>
                  <a:srgbClr val="00684D"/>
                </a:solidFill>
              </a:rPr>
              <a:t>medios publicaron </a:t>
            </a:r>
            <a:r>
              <a:rPr lang="es-MX" sz="2400" b="1" dirty="0" smtClean="0">
                <a:solidFill>
                  <a:srgbClr val="00684D"/>
                </a:solidFill>
              </a:rPr>
              <a:t>158  </a:t>
            </a:r>
            <a:r>
              <a:rPr lang="es-MX" sz="2400" dirty="0">
                <a:solidFill>
                  <a:srgbClr val="00684D"/>
                </a:solidFill>
              </a:rPr>
              <a:t>noticias directas sobre Ecopetrol o GE.</a:t>
            </a:r>
            <a:endParaRPr lang="es-CO" sz="2400" dirty="0">
              <a:solidFill>
                <a:srgbClr val="00684D"/>
              </a:solidFill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6557211" y="4920915"/>
            <a:ext cx="254752" cy="195227"/>
          </a:xfrm>
          <a:prstGeom prst="rect">
            <a:avLst/>
          </a:prstGeom>
          <a:solidFill>
            <a:srgbClr val="084D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/>
          <p:cNvSpPr txBox="1"/>
          <p:nvPr/>
        </p:nvSpPr>
        <p:spPr>
          <a:xfrm>
            <a:off x="6834015" y="4917071"/>
            <a:ext cx="1376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Total nacionales</a:t>
            </a:r>
            <a:endParaRPr lang="es-CO" sz="1200" dirty="0"/>
          </a:p>
        </p:txBody>
      </p:sp>
      <p:sp>
        <p:nvSpPr>
          <p:cNvPr id="20" name="Rectángulo 19"/>
          <p:cNvSpPr/>
          <p:nvPr/>
        </p:nvSpPr>
        <p:spPr>
          <a:xfrm>
            <a:off x="8338130" y="4920915"/>
            <a:ext cx="254752" cy="19522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/>
          <p:cNvSpPr txBox="1"/>
          <p:nvPr/>
        </p:nvSpPr>
        <p:spPr>
          <a:xfrm>
            <a:off x="8720258" y="4880028"/>
            <a:ext cx="1938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Total regionales</a:t>
            </a:r>
            <a:endParaRPr lang="es-CO" sz="1200" dirty="0"/>
          </a:p>
        </p:txBody>
      </p:sp>
      <p:sp>
        <p:nvSpPr>
          <p:cNvPr id="26" name="CuadroTexto 25"/>
          <p:cNvSpPr txBox="1"/>
          <p:nvPr/>
        </p:nvSpPr>
        <p:spPr>
          <a:xfrm>
            <a:off x="6381835" y="5818478"/>
            <a:ext cx="442209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Total registros </a:t>
            </a:r>
            <a:r>
              <a:rPr lang="es-ES" sz="1600" b="1" dirty="0" smtClean="0"/>
              <a:t>375</a:t>
            </a:r>
            <a:r>
              <a:rPr lang="es-ES" sz="1600" dirty="0" smtClean="0"/>
              <a:t> </a:t>
            </a:r>
            <a:r>
              <a:rPr lang="es-ES" sz="1600" dirty="0"/>
              <a:t>en </a:t>
            </a:r>
            <a:r>
              <a:rPr lang="es-ES" sz="1600" b="1" dirty="0" smtClean="0"/>
              <a:t>186</a:t>
            </a:r>
            <a:r>
              <a:rPr lang="es-ES" sz="1600" dirty="0" smtClean="0"/>
              <a:t> </a:t>
            </a:r>
            <a:r>
              <a:rPr lang="es-ES" sz="1600" dirty="0"/>
              <a:t>medios</a:t>
            </a:r>
            <a:endParaRPr lang="es-CO" sz="1600" dirty="0"/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00000000-0008-0000-0400-00003010B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4353744"/>
              </p:ext>
            </p:extLst>
          </p:nvPr>
        </p:nvGraphicFramePr>
        <p:xfrm>
          <a:off x="206109" y="1859438"/>
          <a:ext cx="11779782" cy="30576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7307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1AF7BA0-1A30-C1BE-E2B6-3AF9D1D5A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3438" cy="6858000"/>
          </a:xfrm>
          <a:prstGeom prst="rect">
            <a:avLst/>
          </a:prstGeom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497036" y="345436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Febrero 09  a febrero 15  de 2026</a:t>
            </a:r>
            <a:endParaRPr lang="es-CO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57357" y="655311"/>
            <a:ext cx="81250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6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Participación por tipo de medio</a:t>
            </a:r>
            <a:endParaRPr lang="es-CO" sz="3600" dirty="0"/>
          </a:p>
        </p:txBody>
      </p:sp>
      <p:sp>
        <p:nvSpPr>
          <p:cNvPr id="3" name="Rectángulo 2"/>
          <p:cNvSpPr/>
          <p:nvPr/>
        </p:nvSpPr>
        <p:spPr>
          <a:xfrm>
            <a:off x="541361" y="1498901"/>
            <a:ext cx="1659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u="sng" dirty="0">
                <a:solidFill>
                  <a:srgbClr val="00684D"/>
                </a:solidFill>
              </a:rPr>
              <a:t>TV </a:t>
            </a:r>
            <a:r>
              <a:rPr lang="es-ES" b="1" u="sng" dirty="0" smtClean="0">
                <a:solidFill>
                  <a:srgbClr val="00684D"/>
                </a:solidFill>
              </a:rPr>
              <a:t>– </a:t>
            </a:r>
            <a:r>
              <a:rPr lang="es-ES" b="1" u="sng" dirty="0" smtClean="0">
                <a:solidFill>
                  <a:srgbClr val="00684D"/>
                </a:solidFill>
              </a:rPr>
              <a:t>11</a:t>
            </a:r>
            <a:r>
              <a:rPr lang="es-ES" b="1" u="sng" dirty="0" smtClean="0">
                <a:solidFill>
                  <a:srgbClr val="00684D"/>
                </a:solidFill>
              </a:rPr>
              <a:t> </a:t>
            </a:r>
            <a:r>
              <a:rPr lang="es-ES" b="1" u="sng" dirty="0" smtClean="0">
                <a:solidFill>
                  <a:srgbClr val="00684D"/>
                </a:solidFill>
              </a:rPr>
              <a:t>notas</a:t>
            </a:r>
            <a:endParaRPr lang="es-CO" b="1" u="sng" dirty="0">
              <a:solidFill>
                <a:srgbClr val="00684D"/>
              </a:solidFill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2872700" y="1515401"/>
            <a:ext cx="23459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u="sng" dirty="0">
                <a:solidFill>
                  <a:srgbClr val="00684D"/>
                </a:solidFill>
              </a:rPr>
              <a:t>Radio </a:t>
            </a:r>
            <a:r>
              <a:rPr lang="es-ES" b="1" u="sng" dirty="0" smtClean="0">
                <a:solidFill>
                  <a:srgbClr val="00684D"/>
                </a:solidFill>
              </a:rPr>
              <a:t>– </a:t>
            </a:r>
            <a:r>
              <a:rPr lang="es-ES" b="1" u="sng" dirty="0" smtClean="0">
                <a:solidFill>
                  <a:srgbClr val="00684D"/>
                </a:solidFill>
              </a:rPr>
              <a:t>36</a:t>
            </a:r>
            <a:r>
              <a:rPr lang="es-ES" b="1" u="sng" dirty="0" smtClean="0">
                <a:solidFill>
                  <a:srgbClr val="00684D"/>
                </a:solidFill>
              </a:rPr>
              <a:t> </a:t>
            </a:r>
            <a:r>
              <a:rPr lang="es-ES" b="1" u="sng" dirty="0" smtClean="0">
                <a:solidFill>
                  <a:srgbClr val="00684D"/>
                </a:solidFill>
              </a:rPr>
              <a:t>notas</a:t>
            </a:r>
            <a:endParaRPr lang="es-CO" b="1" u="sng" dirty="0">
              <a:solidFill>
                <a:srgbClr val="00684D"/>
              </a:solidFill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5792664" y="1499417"/>
            <a:ext cx="221833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u="sng" dirty="0">
                <a:solidFill>
                  <a:srgbClr val="00684D"/>
                </a:solidFill>
              </a:rPr>
              <a:t>Prensa </a:t>
            </a:r>
            <a:r>
              <a:rPr lang="es-ES" b="1" u="sng" dirty="0" smtClean="0">
                <a:solidFill>
                  <a:srgbClr val="00684D"/>
                </a:solidFill>
              </a:rPr>
              <a:t>–</a:t>
            </a:r>
            <a:r>
              <a:rPr lang="es-ES" b="1" u="sng" dirty="0">
                <a:solidFill>
                  <a:srgbClr val="00684D"/>
                </a:solidFill>
              </a:rPr>
              <a:t> </a:t>
            </a:r>
            <a:r>
              <a:rPr lang="es-ES" b="1" u="sng" dirty="0" smtClean="0">
                <a:solidFill>
                  <a:srgbClr val="00684D"/>
                </a:solidFill>
              </a:rPr>
              <a:t>23</a:t>
            </a:r>
            <a:r>
              <a:rPr lang="es-CO" b="1" u="sng" dirty="0" smtClean="0">
                <a:solidFill>
                  <a:srgbClr val="00684D"/>
                </a:solidFill>
              </a:rPr>
              <a:t> </a:t>
            </a:r>
            <a:r>
              <a:rPr lang="es-ES" b="1" u="sng" dirty="0" smtClean="0">
                <a:solidFill>
                  <a:srgbClr val="00684D"/>
                </a:solidFill>
              </a:rPr>
              <a:t> </a:t>
            </a:r>
            <a:r>
              <a:rPr lang="es-ES" b="1" u="sng" dirty="0">
                <a:solidFill>
                  <a:srgbClr val="00684D"/>
                </a:solidFill>
              </a:rPr>
              <a:t>notas</a:t>
            </a:r>
            <a:endParaRPr lang="es-CO" b="1" dirty="0">
              <a:solidFill>
                <a:srgbClr val="00684D"/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8539227" y="1494422"/>
            <a:ext cx="2626536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b="1" u="sng" dirty="0">
                <a:solidFill>
                  <a:srgbClr val="00684D"/>
                </a:solidFill>
              </a:rPr>
              <a:t>Internet </a:t>
            </a:r>
            <a:r>
              <a:rPr lang="es-ES" b="1" u="sng" dirty="0" smtClean="0">
                <a:solidFill>
                  <a:srgbClr val="00684D"/>
                </a:solidFill>
              </a:rPr>
              <a:t>– </a:t>
            </a:r>
            <a:r>
              <a:rPr lang="es-CO" b="1" u="sng" dirty="0" smtClean="0">
                <a:solidFill>
                  <a:srgbClr val="00684D"/>
                </a:solidFill>
              </a:rPr>
              <a:t>220 </a:t>
            </a:r>
            <a:r>
              <a:rPr lang="es-ES" b="1" u="sng" dirty="0" smtClean="0">
                <a:solidFill>
                  <a:srgbClr val="00684D"/>
                </a:solidFill>
              </a:rPr>
              <a:t> </a:t>
            </a:r>
            <a:r>
              <a:rPr lang="es-ES" b="1" u="sng" dirty="0">
                <a:solidFill>
                  <a:srgbClr val="00684D"/>
                </a:solidFill>
              </a:rPr>
              <a:t>notas</a:t>
            </a:r>
            <a:endParaRPr lang="es-CO" sz="1600" b="1" dirty="0">
              <a:solidFill>
                <a:srgbClr val="00684D"/>
              </a:solidFill>
            </a:endParaRPr>
          </a:p>
          <a:p>
            <a:endParaRPr lang="es-CO" dirty="0"/>
          </a:p>
        </p:txBody>
      </p:sp>
      <p:sp>
        <p:nvSpPr>
          <p:cNvPr id="22" name="CuadroTexto 21"/>
          <p:cNvSpPr txBox="1"/>
          <p:nvPr/>
        </p:nvSpPr>
        <p:spPr>
          <a:xfrm>
            <a:off x="328692" y="5848153"/>
            <a:ext cx="2461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rgbClr val="00684D"/>
                </a:solidFill>
              </a:rPr>
              <a:t>Potencial audiencia </a:t>
            </a:r>
            <a:r>
              <a:rPr lang="es-CO" sz="1400" dirty="0" smtClean="0">
                <a:solidFill>
                  <a:srgbClr val="00684D"/>
                </a:solidFill>
              </a:rPr>
              <a:t>alcanzada: </a:t>
            </a:r>
            <a:r>
              <a:rPr lang="es-CO" sz="1400" b="1" dirty="0" smtClean="0">
                <a:solidFill>
                  <a:srgbClr val="00684D"/>
                </a:solidFill>
              </a:rPr>
              <a:t>5</a:t>
            </a:r>
            <a:r>
              <a:rPr lang="es-CO" sz="1400" b="1" dirty="0" smtClean="0">
                <a:solidFill>
                  <a:srgbClr val="00684D"/>
                </a:solidFill>
              </a:rPr>
              <a:t>.671.700</a:t>
            </a:r>
            <a:endParaRPr lang="es-CO" sz="1400" b="1" i="0" dirty="0">
              <a:solidFill>
                <a:srgbClr val="00684D"/>
              </a:solidFill>
              <a:effectLst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2942859" y="5848153"/>
            <a:ext cx="30684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rgbClr val="00684D"/>
                </a:solidFill>
              </a:rPr>
              <a:t>Potencial audiencia </a:t>
            </a:r>
            <a:r>
              <a:rPr lang="es-CO" sz="1400" dirty="0" smtClean="0">
                <a:solidFill>
                  <a:srgbClr val="00684D"/>
                </a:solidFill>
              </a:rPr>
              <a:t>alcanzada </a:t>
            </a:r>
            <a:r>
              <a:rPr lang="es-CO" sz="1400" b="1" dirty="0" smtClean="0">
                <a:solidFill>
                  <a:srgbClr val="00684D"/>
                </a:solidFill>
              </a:rPr>
              <a:t>14.848.800</a:t>
            </a:r>
            <a:endParaRPr lang="es-CO" sz="1400" b="1" dirty="0">
              <a:solidFill>
                <a:srgbClr val="00684D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5821341" y="5796832"/>
            <a:ext cx="30684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rgbClr val="00684D"/>
                </a:solidFill>
              </a:rPr>
              <a:t>Potencial audiencia </a:t>
            </a:r>
            <a:r>
              <a:rPr lang="es-CO" sz="1400" dirty="0" smtClean="0">
                <a:solidFill>
                  <a:srgbClr val="00684D"/>
                </a:solidFill>
              </a:rPr>
              <a:t>alcanzada  </a:t>
            </a:r>
            <a:r>
              <a:rPr lang="es-CO" sz="1400" b="1" dirty="0" smtClean="0">
                <a:solidFill>
                  <a:srgbClr val="00684D"/>
                </a:solidFill>
              </a:rPr>
              <a:t>  2,350.200</a:t>
            </a:r>
            <a:endParaRPr lang="es-CO" sz="1400" b="1" dirty="0">
              <a:solidFill>
                <a:srgbClr val="00684D"/>
              </a:solidFill>
            </a:endParaRPr>
          </a:p>
        </p:txBody>
      </p:sp>
      <p:sp>
        <p:nvSpPr>
          <p:cNvPr id="29" name="Rectángulo 28"/>
          <p:cNvSpPr/>
          <p:nvPr/>
        </p:nvSpPr>
        <p:spPr>
          <a:xfrm>
            <a:off x="8611639" y="5782105"/>
            <a:ext cx="30684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rgbClr val="00684D"/>
                </a:solidFill>
              </a:rPr>
              <a:t>Potencial audiencia alcanzada </a:t>
            </a:r>
            <a:r>
              <a:rPr lang="es-CO" sz="1400" dirty="0" smtClean="0">
                <a:solidFill>
                  <a:srgbClr val="00684D"/>
                </a:solidFill>
              </a:rPr>
              <a:t> </a:t>
            </a:r>
            <a:r>
              <a:rPr lang="es-CO" sz="1400" b="1" dirty="0" smtClean="0">
                <a:solidFill>
                  <a:srgbClr val="00684D"/>
                </a:solidFill>
              </a:rPr>
              <a:t>17</a:t>
            </a:r>
            <a:r>
              <a:rPr lang="es-CO" sz="1400" b="1" dirty="0" smtClean="0">
                <a:solidFill>
                  <a:srgbClr val="00684D"/>
                </a:solidFill>
              </a:rPr>
              <a:t>.195.600</a:t>
            </a:r>
            <a:endParaRPr lang="es-CO" sz="1400" b="1" dirty="0">
              <a:solidFill>
                <a:srgbClr val="00684D"/>
              </a:solidFill>
            </a:endParaRPr>
          </a:p>
        </p:txBody>
      </p:sp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00000000-0008-0000-0700-00006045B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415516"/>
              </p:ext>
            </p:extLst>
          </p:nvPr>
        </p:nvGraphicFramePr>
        <p:xfrm>
          <a:off x="328692" y="1840282"/>
          <a:ext cx="3155252" cy="3839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00000000-0008-0000-0700-00005C45B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5088841"/>
              </p:ext>
            </p:extLst>
          </p:nvPr>
        </p:nvGraphicFramePr>
        <p:xfrm>
          <a:off x="2872701" y="1924738"/>
          <a:ext cx="2948640" cy="3730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00000000-0008-0000-0700-00005D45B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4170576"/>
              </p:ext>
            </p:extLst>
          </p:nvPr>
        </p:nvGraphicFramePr>
        <p:xfrm>
          <a:off x="5673719" y="1715075"/>
          <a:ext cx="3013130" cy="3960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Gráfico 22">
            <a:extLst>
              <a:ext uri="{FF2B5EF4-FFF2-40B4-BE49-F238E27FC236}">
                <a16:creationId xmlns:a16="http://schemas.microsoft.com/office/drawing/2014/main" id="{00000000-0008-0000-0700-00005F45B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7585614"/>
              </p:ext>
            </p:extLst>
          </p:nvPr>
        </p:nvGraphicFramePr>
        <p:xfrm>
          <a:off x="8426300" y="1927169"/>
          <a:ext cx="3253828" cy="3794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17644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1AF7BA0-1A30-C1BE-E2B6-3AF9D1D5A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3438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541361" y="241919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Febrero 09  a febrero 15  de 2026</a:t>
            </a:r>
            <a:endParaRPr lang="es-CO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74331" y="611209"/>
            <a:ext cx="121288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6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Publicaciones sobre el Presidente por número, </a:t>
            </a:r>
          </a:p>
          <a:p>
            <a:r>
              <a:rPr lang="es-CO" sz="36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audiencia y sentimiento</a:t>
            </a:r>
            <a:endParaRPr lang="es-CO" sz="3600" dirty="0"/>
          </a:p>
        </p:txBody>
      </p:sp>
      <p:sp>
        <p:nvSpPr>
          <p:cNvPr id="6" name="Rectángulo 5"/>
          <p:cNvSpPr/>
          <p:nvPr/>
        </p:nvSpPr>
        <p:spPr>
          <a:xfrm>
            <a:off x="429697" y="4829805"/>
            <a:ext cx="641307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rgbClr val="00684D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Publicaciones de mayor impacto</a:t>
            </a:r>
          </a:p>
          <a:p>
            <a:endParaRPr lang="es-MX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Negativa</a:t>
            </a:r>
            <a:endParaRPr lang="es-MX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i="1" u="sng" dirty="0" smtClean="0">
                <a:solidFill>
                  <a:srgbClr val="3C35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Caracol Radio, Blu Radio, </a:t>
            </a:r>
            <a:r>
              <a:rPr lang="es-CO" sz="1200" i="1" u="sng" dirty="0" smtClean="0">
                <a:solidFill>
                  <a:srgbClr val="3C35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Tiempo, caracol Tv, Infobae, RCN Noticias….   </a:t>
            </a:r>
            <a:endParaRPr lang="es-CO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Fiscalía imputará cargos al presidente de Ecopetrol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7272466" y="4712662"/>
            <a:ext cx="40200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00684D"/>
                </a:solidFill>
                <a:latin typeface="Arial Black" panose="020B0A04020102020204" pitchFamily="34" charset="0"/>
              </a:rPr>
              <a:t>Total </a:t>
            </a:r>
            <a:r>
              <a:rPr lang="es-CO" sz="1600" dirty="0" smtClean="0">
                <a:solidFill>
                  <a:srgbClr val="00684D"/>
                </a:solidFill>
                <a:latin typeface="Arial Black" panose="020B0A04020102020204" pitchFamily="34" charset="0"/>
              </a:rPr>
              <a:t>publicaciones </a:t>
            </a:r>
            <a:r>
              <a:rPr lang="es-CO" sz="1600" dirty="0" smtClean="0">
                <a:solidFill>
                  <a:srgbClr val="00684D"/>
                </a:solidFill>
                <a:latin typeface="Arial Black" panose="020B0A04020102020204" pitchFamily="34" charset="0"/>
              </a:rPr>
              <a:t>205</a:t>
            </a:r>
            <a:endParaRPr lang="es-CO" sz="1200" dirty="0" smtClean="0">
              <a:solidFill>
                <a:schemeClr val="accent5">
                  <a:lumMod val="75000"/>
                  <a:lumOff val="25000"/>
                </a:schemeClr>
              </a:solidFill>
            </a:endParaRPr>
          </a:p>
          <a:p>
            <a:r>
              <a:rPr lang="es-CO" sz="1200" dirty="0" smtClean="0">
                <a:solidFill>
                  <a:schemeClr val="accent5">
                    <a:lumMod val="75000"/>
                    <a:lumOff val="25000"/>
                  </a:schemeClr>
                </a:solidFill>
              </a:rPr>
              <a:t>Positivas</a:t>
            </a:r>
            <a:r>
              <a:rPr lang="es-CO" sz="1200" dirty="0" smtClean="0"/>
              <a:t>     </a:t>
            </a:r>
            <a:r>
              <a:rPr lang="es-CO" sz="1200" dirty="0" smtClean="0"/>
              <a:t>   </a:t>
            </a:r>
            <a:r>
              <a:rPr lang="es-CO" sz="1200" b="1" dirty="0" smtClean="0"/>
              <a:t>11</a:t>
            </a:r>
            <a:endParaRPr lang="es-CO" sz="1200" b="1" dirty="0" smtClean="0"/>
          </a:p>
          <a:p>
            <a:r>
              <a:rPr lang="es-CO" sz="1200" dirty="0" smtClean="0">
                <a:solidFill>
                  <a:schemeClr val="bg2">
                    <a:lumMod val="50000"/>
                  </a:schemeClr>
                </a:solidFill>
              </a:rPr>
              <a:t>Neutras  </a:t>
            </a:r>
            <a:r>
              <a:rPr lang="es-CO" sz="1200" dirty="0" smtClean="0">
                <a:solidFill>
                  <a:srgbClr val="3C357B"/>
                </a:solidFill>
              </a:rPr>
              <a:t>    </a:t>
            </a:r>
            <a:r>
              <a:rPr lang="es-CO" sz="1200" b="1" dirty="0">
                <a:solidFill>
                  <a:srgbClr val="3C357B"/>
                </a:solidFill>
              </a:rPr>
              <a:t> </a:t>
            </a:r>
            <a:r>
              <a:rPr lang="es-CO" sz="1200" b="1" dirty="0" smtClean="0">
                <a:solidFill>
                  <a:srgbClr val="3C357B"/>
                </a:solidFill>
              </a:rPr>
              <a:t>  39</a:t>
            </a:r>
            <a:endParaRPr lang="es-CO" sz="1200" b="1" dirty="0">
              <a:solidFill>
                <a:srgbClr val="3C357B"/>
              </a:solidFill>
            </a:endParaRPr>
          </a:p>
          <a:p>
            <a:r>
              <a:rPr lang="es-CO" sz="1200" dirty="0">
                <a:solidFill>
                  <a:srgbClr val="FF9900"/>
                </a:solidFill>
              </a:rPr>
              <a:t>Negativas </a:t>
            </a:r>
            <a:r>
              <a:rPr lang="es-CO" sz="1200" dirty="0" smtClean="0">
                <a:solidFill>
                  <a:srgbClr val="FF9900"/>
                </a:solidFill>
              </a:rPr>
              <a:t>   </a:t>
            </a:r>
            <a:r>
              <a:rPr lang="es-CO" sz="1200" b="1" dirty="0" smtClean="0"/>
              <a:t>155</a:t>
            </a:r>
            <a:endParaRPr lang="es-CO" sz="1200" b="1" dirty="0" smtClean="0"/>
          </a:p>
          <a:p>
            <a:r>
              <a:rPr lang="es-CO" sz="1200" dirty="0" smtClean="0">
                <a:solidFill>
                  <a:srgbClr val="00684D"/>
                </a:solidFill>
              </a:rPr>
              <a:t>Potencial </a:t>
            </a:r>
            <a:r>
              <a:rPr lang="es-CO" sz="1200" dirty="0">
                <a:solidFill>
                  <a:srgbClr val="00684D"/>
                </a:solidFill>
              </a:rPr>
              <a:t>audiencia alcanzada </a:t>
            </a:r>
            <a:r>
              <a:rPr lang="es-CO" sz="1200" dirty="0" smtClean="0">
                <a:solidFill>
                  <a:srgbClr val="00684D"/>
                </a:solidFill>
              </a:rPr>
              <a:t> </a:t>
            </a:r>
          </a:p>
          <a:p>
            <a:r>
              <a:rPr lang="es-CO" sz="1600" b="1" dirty="0" smtClean="0">
                <a:solidFill>
                  <a:srgbClr val="000000"/>
                </a:solidFill>
              </a:rPr>
              <a:t>64,010.590</a:t>
            </a:r>
            <a:endParaRPr lang="es-CO" sz="1600" b="1" dirty="0">
              <a:solidFill>
                <a:srgbClr val="3C357B"/>
              </a:solidFill>
            </a:endParaRP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00000000-0008-0000-06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5543396"/>
              </p:ext>
            </p:extLst>
          </p:nvPr>
        </p:nvGraphicFramePr>
        <p:xfrm>
          <a:off x="581293" y="2001400"/>
          <a:ext cx="11172290" cy="2638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8066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1AF7BA0-1A30-C1BE-E2B6-3AF9D1D5A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438" y="0"/>
            <a:ext cx="12263438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541362" y="334210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Febrero 09  a febrero 15  de 2026</a:t>
            </a:r>
            <a:endParaRPr lang="es-CO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74331" y="611209"/>
            <a:ext cx="95394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600" b="1" dirty="0" smtClean="0">
                <a:solidFill>
                  <a:srgbClr val="00684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Publicaciones de notas por regiones </a:t>
            </a:r>
            <a:endParaRPr lang="es-CO" sz="36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958461" y="4630677"/>
            <a:ext cx="359750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00684D"/>
                </a:solidFill>
                <a:latin typeface="Arial Black" panose="020B0A04020102020204" pitchFamily="34" charset="0"/>
              </a:rPr>
              <a:t>Total </a:t>
            </a:r>
            <a:r>
              <a:rPr lang="es-CO" sz="1600" dirty="0" smtClean="0">
                <a:solidFill>
                  <a:srgbClr val="00684D"/>
                </a:solidFill>
                <a:latin typeface="Arial Black" panose="020B0A04020102020204" pitchFamily="34" charset="0"/>
              </a:rPr>
              <a:t>publicaciones </a:t>
            </a:r>
            <a:r>
              <a:rPr lang="es-CO" sz="1600" dirty="0" smtClean="0">
                <a:solidFill>
                  <a:srgbClr val="00684D"/>
                </a:solidFill>
                <a:latin typeface="Arial Black" panose="020B0A04020102020204" pitchFamily="34" charset="0"/>
              </a:rPr>
              <a:t>200</a:t>
            </a:r>
            <a:r>
              <a:rPr lang="es-CO" sz="1600" dirty="0" smtClean="0">
                <a:solidFill>
                  <a:srgbClr val="00684D"/>
                </a:solidFill>
                <a:latin typeface="Arial Black" panose="020B0A04020102020204" pitchFamily="34" charset="0"/>
              </a:rPr>
              <a:t> </a:t>
            </a:r>
            <a:endParaRPr lang="es-CO" sz="1600" b="1" dirty="0">
              <a:solidFill>
                <a:srgbClr val="00684D"/>
              </a:solidFill>
              <a:latin typeface="Arial Black" panose="020B0A04020102020204" pitchFamily="34" charset="0"/>
            </a:endParaRPr>
          </a:p>
          <a:p>
            <a:endParaRPr lang="es-CO" sz="1200" dirty="0" smtClean="0">
              <a:solidFill>
                <a:schemeClr val="accent5">
                  <a:lumMod val="75000"/>
                  <a:lumOff val="25000"/>
                </a:schemeClr>
              </a:solidFill>
            </a:endParaRPr>
          </a:p>
          <a:p>
            <a:r>
              <a:rPr lang="es-CO" dirty="0" smtClean="0">
                <a:solidFill>
                  <a:schemeClr val="accent5">
                    <a:lumMod val="75000"/>
                    <a:lumOff val="25000"/>
                  </a:schemeClr>
                </a:solidFill>
              </a:rPr>
              <a:t>Positivas</a:t>
            </a:r>
            <a:r>
              <a:rPr lang="es-CO" dirty="0" smtClean="0"/>
              <a:t>      </a:t>
            </a:r>
            <a:r>
              <a:rPr lang="es-CO" b="1" dirty="0"/>
              <a:t> </a:t>
            </a:r>
            <a:r>
              <a:rPr lang="es-CO" b="1" dirty="0" smtClean="0"/>
              <a:t> </a:t>
            </a:r>
            <a:r>
              <a:rPr lang="es-CO" b="1" dirty="0" smtClean="0"/>
              <a:t>144</a:t>
            </a:r>
            <a:endParaRPr lang="es-CO" b="1" dirty="0"/>
          </a:p>
          <a:p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Neutras  </a:t>
            </a:r>
            <a:r>
              <a:rPr lang="es-CO" dirty="0">
                <a:solidFill>
                  <a:srgbClr val="3C357B"/>
                </a:solidFill>
              </a:rPr>
              <a:t>   </a:t>
            </a:r>
            <a:r>
              <a:rPr lang="es-CO" dirty="0" smtClean="0">
                <a:solidFill>
                  <a:srgbClr val="3C357B"/>
                </a:solidFill>
              </a:rPr>
              <a:t> </a:t>
            </a:r>
            <a:r>
              <a:rPr lang="es-CO" b="1" dirty="0"/>
              <a:t> </a:t>
            </a:r>
            <a:r>
              <a:rPr lang="es-CO" b="1" dirty="0" smtClean="0"/>
              <a:t>    </a:t>
            </a:r>
            <a:r>
              <a:rPr lang="es-CO" b="1" dirty="0" smtClean="0"/>
              <a:t>31</a:t>
            </a:r>
            <a:endParaRPr lang="es-CO" b="1" dirty="0" smtClean="0"/>
          </a:p>
          <a:p>
            <a:r>
              <a:rPr lang="es-CO" dirty="0" smtClean="0">
                <a:solidFill>
                  <a:srgbClr val="FF9900"/>
                </a:solidFill>
              </a:rPr>
              <a:t>Negativas </a:t>
            </a:r>
            <a:r>
              <a:rPr lang="es-CO" dirty="0" smtClean="0">
                <a:solidFill>
                  <a:srgbClr val="3C357B"/>
                </a:solidFill>
              </a:rPr>
              <a:t>  </a:t>
            </a:r>
            <a:r>
              <a:rPr lang="es-CO" b="1" dirty="0" smtClean="0">
                <a:solidFill>
                  <a:srgbClr val="3C357B"/>
                </a:solidFill>
              </a:rPr>
              <a:t>  </a:t>
            </a:r>
            <a:r>
              <a:rPr lang="es-CO" b="1" dirty="0"/>
              <a:t> </a:t>
            </a:r>
            <a:r>
              <a:rPr lang="es-CO" b="1" dirty="0" smtClean="0"/>
              <a:t>  </a:t>
            </a:r>
            <a:r>
              <a:rPr lang="es-CO" b="1" dirty="0" smtClean="0"/>
              <a:t>25</a:t>
            </a:r>
            <a:endParaRPr lang="es-CO" sz="1200" b="1" dirty="0" smtClean="0"/>
          </a:p>
        </p:txBody>
      </p:sp>
      <p:sp>
        <p:nvSpPr>
          <p:cNvPr id="3" name="Rectángulo 2"/>
          <p:cNvSpPr/>
          <p:nvPr/>
        </p:nvSpPr>
        <p:spPr>
          <a:xfrm>
            <a:off x="5821680" y="489228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400" dirty="0">
                <a:solidFill>
                  <a:srgbClr val="00684D"/>
                </a:solidFill>
              </a:rPr>
              <a:t>Potencial audiencia alcanzada  </a:t>
            </a:r>
          </a:p>
          <a:p>
            <a:r>
              <a:rPr lang="es-CO" sz="2400" b="1" dirty="0" smtClean="0">
                <a:solidFill>
                  <a:srgbClr val="000000"/>
                </a:solidFill>
              </a:rPr>
              <a:t>2.</a:t>
            </a:r>
            <a:r>
              <a:rPr lang="es-CO" sz="2400" b="1" dirty="0" smtClean="0">
                <a:solidFill>
                  <a:srgbClr val="000000"/>
                </a:solidFill>
              </a:rPr>
              <a:t>352</a:t>
            </a:r>
            <a:r>
              <a:rPr lang="es-CO" sz="2400" b="1" dirty="0" smtClean="0">
                <a:solidFill>
                  <a:srgbClr val="000000"/>
                </a:solidFill>
              </a:rPr>
              <a:t>.100</a:t>
            </a:r>
            <a:endParaRPr lang="es-CO" sz="2400" b="1" dirty="0">
              <a:solidFill>
                <a:srgbClr val="3C357B"/>
              </a:solidFill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0000000-0008-0000-0500-00003924B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1460735"/>
              </p:ext>
            </p:extLst>
          </p:nvPr>
        </p:nvGraphicFramePr>
        <p:xfrm>
          <a:off x="958462" y="1534540"/>
          <a:ext cx="9800978" cy="2711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6115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73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Ecopetrol">
      <a:dk1>
        <a:sysClr val="windowText" lastClr="000000"/>
      </a:dk1>
      <a:lt1>
        <a:sysClr val="window" lastClr="FFFFFF"/>
      </a:lt1>
      <a:dk2>
        <a:srgbClr val="FFFFFF"/>
      </a:dk2>
      <a:lt2>
        <a:srgbClr val="F2F2F2"/>
      </a:lt2>
      <a:accent1>
        <a:srgbClr val="CBD300"/>
      </a:accent1>
      <a:accent2>
        <a:srgbClr val="92D050"/>
      </a:accent2>
      <a:accent3>
        <a:srgbClr val="7F7F7F"/>
      </a:accent3>
      <a:accent4>
        <a:srgbClr val="FFC000"/>
      </a:accent4>
      <a:accent5>
        <a:srgbClr val="004237"/>
      </a:accent5>
      <a:accent6>
        <a:srgbClr val="8CD05A"/>
      </a:accent6>
      <a:hlink>
        <a:srgbClr val="00B050"/>
      </a:hlink>
      <a:folHlink>
        <a:srgbClr val="595959"/>
      </a:folHlink>
    </a:clrScheme>
    <a:fontScheme name="Personalizado 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FE3D52F36A1D4E802B0DF432DAA79E" ma:contentTypeVersion="20" ma:contentTypeDescription="Crear nuevo documento." ma:contentTypeScope="" ma:versionID="2b40dbe6f82d930187eb77fb67f9b0b9">
  <xsd:schema xmlns:xsd="http://www.w3.org/2001/XMLSchema" xmlns:xs="http://www.w3.org/2001/XMLSchema" xmlns:p="http://schemas.microsoft.com/office/2006/metadata/properties" xmlns:ns2="44cf059c-5d0a-4d96-8bcf-52971842b4d6" xmlns:ns3="a5f24706-c3b9-4e47-88a2-ba35443325f7" targetNamespace="http://schemas.microsoft.com/office/2006/metadata/properties" ma:root="true" ma:fieldsID="54fc1143bef23ae991a22d8fe3761c81" ns2:_="" ns3:_="">
    <xsd:import namespace="44cf059c-5d0a-4d96-8bcf-52971842b4d6"/>
    <xsd:import namespace="a5f24706-c3b9-4e47-88a2-ba35443325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cf059c-5d0a-4d96-8bcf-52971842b4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4192beb2-35a5-4af4-a5ae-50acbeb4e6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f24706-c3b9-4e47-88a2-ba35443325f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3351a3a8-979d-4fb3-9a7d-747eaa6ff79c}" ma:internalName="TaxCatchAll" ma:showField="CatchAllData" ma:web="a5f24706-c3b9-4e47-88a2-ba35443325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4cf059c-5d0a-4d96-8bcf-52971842b4d6">
      <Terms xmlns="http://schemas.microsoft.com/office/infopath/2007/PartnerControls"/>
    </lcf76f155ced4ddcb4097134ff3c332f>
    <TaxCatchAll xmlns="a5f24706-c3b9-4e47-88a2-ba35443325f7" xsi:nil="true"/>
    <SharedWithUsers xmlns="a5f24706-c3b9-4e47-88a2-ba35443325f7">
      <UserInfo>
        <DisplayName>Pedro Felipe Rodriguez</DisplayName>
        <AccountId>6</AccountId>
        <AccountType/>
      </UserInfo>
      <UserInfo>
        <DisplayName>Lorena Cordero Alarcón (Michael Page International)</DisplayName>
        <AccountId>549</AccountId>
        <AccountType/>
      </UserInfo>
      <UserInfo>
        <DisplayName>Giovanni Ernesto Candia Bocanegra (Michael Page International)</DisplayName>
        <AccountId>550</AccountId>
        <AccountType/>
      </UserInfo>
      <UserInfo>
        <DisplayName>Juan Andres Fonseca Franco (Michael Page International)</DisplayName>
        <AccountId>546</AccountId>
        <AccountType/>
      </UserInfo>
      <UserInfo>
        <DisplayName>Andrés Felipe Gonzalez Quintana</DisplayName>
        <AccountId>545</AccountId>
        <AccountType/>
      </UserInfo>
      <UserInfo>
        <DisplayName>Cristian Camilo Leon Ayala</DisplayName>
        <AccountId>567</AccountId>
        <AccountType/>
      </UserInfo>
      <UserInfo>
        <DisplayName>Marcela Ulloa Beltran</DisplayName>
        <AccountId>699</AccountId>
        <AccountType/>
      </UserInfo>
      <UserInfo>
        <DisplayName>Manuel Francisco Ahumada Rodriguez</DisplayName>
        <AccountId>708</AccountId>
        <AccountType/>
      </UserInfo>
      <UserInfo>
        <DisplayName>Irina Madalem Gentil Quintero</DisplayName>
        <AccountId>15</AccountId>
        <AccountType/>
      </UserInfo>
      <UserInfo>
        <DisplayName>Manuel Armando Sarabia Acevedo</DisplayName>
        <AccountId>13</AccountId>
        <AccountType/>
      </UserInfo>
      <UserInfo>
        <DisplayName>Andres Jacome Suescun</DisplayName>
        <AccountId>14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739F8E-11B5-4B93-B5DB-D0EB045B539C}">
  <ds:schemaRefs/>
</ds:datastoreItem>
</file>

<file path=customXml/itemProps2.xml><?xml version="1.0" encoding="utf-8"?>
<ds:datastoreItem xmlns:ds="http://schemas.openxmlformats.org/officeDocument/2006/customXml" ds:itemID="{1BCE319F-0ADD-426F-8B60-C3DB09A84DCB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a5f24706-c3b9-4e47-88a2-ba35443325f7"/>
    <ds:schemaRef ds:uri="44cf059c-5d0a-4d96-8bcf-52971842b4d6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B92B196-DDDE-4F38-A61D-651C9176017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7577</TotalTime>
  <Words>568</Words>
  <Application>Microsoft Office PowerPoint</Application>
  <PresentationFormat>Panorámica</PresentationFormat>
  <Paragraphs>335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Eco Sans Medium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de presentaciones</dc:title>
  <dc:creator>Rafael Andres Mulett Diaz</dc:creator>
  <cp:lastModifiedBy>Admin CHR</cp:lastModifiedBy>
  <cp:revision>818</cp:revision>
  <dcterms:created xsi:type="dcterms:W3CDTF">2018-02-06T20:48:00Z</dcterms:created>
  <dcterms:modified xsi:type="dcterms:W3CDTF">2026-02-15T17:47:32Z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0x01010022FE3D52F36A1D4E802B0DF432DAA79E</vt:lpwstr>
  </property>
  <property fmtid="{D5CDD505-2E9C-101B-9397-08002B2CF9AE}" pid="3" name="MediaServiceImageTags">
    <vt:lpwstr/>
  </property>
  <property fmtid="{D5CDD505-2E9C-101B-9397-08002B2CF9AE}" pid="4" name="ICV">
    <vt:lpwstr>3F861117C8C04BB49604AA8B7B4361A0_12</vt:lpwstr>
  </property>
  <property fmtid="{D5CDD505-2E9C-101B-9397-08002B2CF9AE}" pid="5" name="KSOProductBuildVer">
    <vt:lpwstr>3082-12.2.0.18607</vt:lpwstr>
  </property>
</Properties>
</file>