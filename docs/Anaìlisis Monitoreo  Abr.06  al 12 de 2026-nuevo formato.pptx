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5" r:id="rId2"/>
    <p:sldId id="256" r:id="rId3"/>
    <p:sldId id="280" r:id="rId4"/>
    <p:sldId id="282" r:id="rId5"/>
    <p:sldId id="283" r:id="rId6"/>
    <p:sldId id="284" r:id="rId7"/>
    <p:sldId id="262" r:id="rId8"/>
    <p:sldId id="257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3F"/>
    <a:srgbClr val="04CF74"/>
    <a:srgbClr val="00B8EE"/>
    <a:srgbClr val="09FF54"/>
    <a:srgbClr val="08A338"/>
    <a:srgbClr val="0B7277"/>
    <a:srgbClr val="0ED5E7"/>
    <a:srgbClr val="00684D"/>
    <a:srgbClr val="3C35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2E641C-E579-3F46-2B78-085E142A0C59}" v="2" dt="2025-11-24T14:34:30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26" autoAdjust="0"/>
    <p:restoredTop sz="96348"/>
  </p:normalViewPr>
  <p:slideViewPr>
    <p:cSldViewPr snapToGrid="0">
      <p:cViewPr varScale="1">
        <p:scale>
          <a:sx n="58" d="100"/>
          <a:sy n="58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a4305987-cf78-4f93-9d64-bf18af65397b::" providerId="AD" clId="Web-{3C2E641C-E579-3F46-2B78-085E142A0C59}"/>
    <pc:docChg chg="modSld">
      <pc:chgData name="Guest User" userId="S::urn:spo:tenantanon#a4305987-cf78-4f93-9d64-bf18af65397b::" providerId="AD" clId="Web-{3C2E641C-E579-3F46-2B78-085E142A0C59}" dt="2025-11-24T14:34:30.364" v="1" actId="1076"/>
      <pc:docMkLst>
        <pc:docMk/>
      </pc:docMkLst>
      <pc:sldChg chg="modSp">
        <pc:chgData name="Guest User" userId="S::urn:spo:tenantanon#a4305987-cf78-4f93-9d64-bf18af65397b::" providerId="AD" clId="Web-{3C2E641C-E579-3F46-2B78-085E142A0C59}" dt="2025-11-24T14:34:30.364" v="1" actId="1076"/>
        <pc:sldMkLst>
          <pc:docMk/>
          <pc:sldMk cId="4232671477" sldId="276"/>
        </pc:sldMkLst>
        <pc:picChg chg="mod">
          <ac:chgData name="Guest User" userId="S::urn:spo:tenantanon#a4305987-cf78-4f93-9d64-bf18af65397b::" providerId="AD" clId="Web-{3C2E641C-E579-3F46-2B78-085E142A0C59}" dt="2025-11-24T14:34:30.364" v="1" actId="1076"/>
          <ac:picMkLst>
            <pc:docMk/>
            <pc:sldMk cId="4232671477" sldId="276"/>
            <ac:picMk id="4" creationId="{4F8A9EB6-0CAD-3ABE-29B4-683E15998B0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ABRIL\Ecopetrol%20abril%2006%20a%20abril%2012%20corregido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D:\Escritorio\Ecopetrol\ECOPETROL%202026\ABRIL\Ecopetrol%20abril%2006%20a%20abril%2012%20corregido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ABRIL\Ecopetrol%20abril%2006%20a%20abril%2012%20corregido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ABRIL\Ecopetrol%20abril%2006%20a%20abril%2012%20corregido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ABRIL\Ecopetrol%20abril%2006%20a%20abril%2012%20corregido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ABRIL\Ecopetrol%20abril%2006%20a%20abril%2012%20corregido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ABRIL\Ecopetrol%20abril%2006%20a%20abril%2012%20corregido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ABRIL\Ecopetrol%20abril%2006%20a%20abril%2012%20corregido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D:\Escritorio\Ecopetrol\ECOPETROL%202026\ABRIL\Ecopetrol%20abril%2006%20a%20abril%2012%20corregido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[Ecopetrol abril 06 a abril 12 corregido.xlsx]Principal!TablaDinámica5</c:name>
    <c:fmtId val="-1"/>
  </c:pivotSource>
  <c:chart>
    <c:title>
      <c:tx>
        <c:rich>
          <a:bodyPr/>
          <a:lstStyle/>
          <a:p>
            <a:pPr>
              <a:defRPr sz="1600" b="0" i="0" u="none" strike="noStrike" baseline="0">
                <a:solidFill>
                  <a:srgbClr val="333333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defRPr>
            </a:pP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Sentimiento publicaciones directas</a:t>
            </a:r>
          </a:p>
        </c:rich>
      </c:tx>
      <c:layout>
        <c:manualLayout>
          <c:xMode val="edge"/>
          <c:yMode val="edge"/>
          <c:x val="9.2488014072043004E-2"/>
          <c:y val="5.186260178132336E-3"/>
        </c:manualLayout>
      </c:layout>
      <c:overlay val="0"/>
      <c:spPr>
        <a:noFill/>
        <a:ln w="25400">
          <a:noFill/>
        </a:ln>
      </c:spPr>
    </c:title>
    <c:autoTitleDeleted val="0"/>
    <c:pivotFmts>
      <c:pivotFmt>
        <c:idx val="0"/>
        <c:marker>
          <c:symbol val="none"/>
        </c:marker>
        <c:dLbl>
          <c:idx val="0"/>
          <c:spPr>
            <a:noFill/>
            <a:ln w="25400">
              <a:noFill/>
            </a:ln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6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bg1">
              <a:lumMod val="75000"/>
            </a:schemeClr>
          </a:solidFill>
        </c:spPr>
        <c:dLbl>
          <c:idx val="0"/>
          <c:layout>
            <c:manualLayout>
              <c:x val="5.2608546649408214E-2"/>
              <c:y val="1.1727999875386478E-2"/>
            </c:manualLayout>
          </c:layout>
          <c:spPr>
            <a:noFill/>
            <a:ln w="25400">
              <a:noFill/>
            </a:ln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6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B050"/>
          </a:solidFill>
        </c:spPr>
      </c:pivotFmt>
      <c:pivotFmt>
        <c:idx val="3"/>
        <c:spPr>
          <a:solidFill>
            <a:srgbClr val="FF9966"/>
          </a:solidFill>
        </c:spPr>
        <c:dLbl>
          <c:idx val="0"/>
          <c:layout>
            <c:manualLayout>
              <c:x val="-5.6614576645049826E-2"/>
              <c:y val="1.5983617367259149E-2"/>
            </c:manualLayout>
          </c:layout>
          <c:spPr>
            <a:noFill/>
            <a:ln w="25400">
              <a:noFill/>
            </a:ln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6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6600"/>
          </a:solidFill>
        </c:spPr>
      </c:pivotFmt>
      <c:pivotFmt>
        <c:idx val="5"/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marker>
          <c:symbol val="none"/>
        </c:marker>
        <c:dLbl>
          <c:idx val="0"/>
          <c:spPr>
            <a:noFill/>
            <a:ln w="25400">
              <a:noFill/>
            </a:ln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6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bg1">
              <a:lumMod val="75000"/>
            </a:schemeClr>
          </a:solidFill>
        </c:spPr>
        <c:dLbl>
          <c:idx val="0"/>
          <c:layout>
            <c:manualLayout>
              <c:x val="5.2608546649408214E-2"/>
              <c:y val="1.1727999875386478E-2"/>
            </c:manualLayout>
          </c:layout>
          <c:spPr>
            <a:noFill/>
            <a:ln w="25400">
              <a:noFill/>
            </a:ln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6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00B050"/>
          </a:solidFill>
        </c:spPr>
      </c:pivotFmt>
      <c:pivotFmt>
        <c:idx val="9"/>
        <c:spPr>
          <a:solidFill>
            <a:srgbClr val="FF6600"/>
          </a:solidFill>
        </c:spPr>
      </c:pivotFmt>
      <c:pivotFmt>
        <c:idx val="10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4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bg2">
              <a:lumMod val="75000"/>
            </a:schemeClr>
          </a:solidFill>
        </c:spPr>
      </c:pivotFmt>
      <c:pivotFmt>
        <c:idx val="12"/>
        <c:spPr>
          <a:solidFill>
            <a:srgbClr val="00B050"/>
          </a:solidFill>
        </c:spPr>
      </c:pivotFmt>
      <c:pivotFmt>
        <c:idx val="13"/>
        <c:spPr>
          <a:solidFill>
            <a:srgbClr val="FF6600"/>
          </a:solidFill>
        </c:spPr>
        <c:dLbl>
          <c:idx val="0"/>
          <c:layout>
            <c:manualLayout>
              <c:x val="-2.0235708752446738E-2"/>
              <c:y val="2.545425206665284E-2"/>
            </c:manualLayout>
          </c:layout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4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FF6600"/>
          </a:solidFill>
        </c:spPr>
      </c:pivotFmt>
      <c:pivotFmt>
        <c:idx val="15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2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bg1">
              <a:lumMod val="75000"/>
            </a:schemeClr>
          </a:solidFill>
        </c:spPr>
      </c:pivotFmt>
      <c:pivotFmt>
        <c:idx val="17"/>
        <c:spPr>
          <a:solidFill>
            <a:srgbClr val="00B050"/>
          </a:solidFill>
        </c:spPr>
      </c:pivotFmt>
      <c:pivotFmt>
        <c:idx val="18"/>
        <c:spPr>
          <a:solidFill>
            <a:srgbClr val="FF7C80"/>
          </a:solidFill>
        </c:spPr>
        <c:dLbl>
          <c:idx val="0"/>
          <c:layout>
            <c:manualLayout>
              <c:x val="-6.3434499568978328E-2"/>
              <c:y val="1.3027237398480658E-3"/>
            </c:manualLayout>
          </c:layout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2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FF7C80"/>
          </a:solidFill>
        </c:spPr>
      </c:pivotFmt>
      <c:pivotFmt>
        <c:idx val="20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2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bg1">
              <a:lumMod val="75000"/>
            </a:schemeClr>
          </a:solidFill>
        </c:spPr>
      </c:pivotFmt>
      <c:pivotFmt>
        <c:idx val="22"/>
        <c:spPr>
          <a:solidFill>
            <a:srgbClr val="00B050"/>
          </a:solidFill>
        </c:spPr>
      </c:pivotFmt>
      <c:pivotFmt>
        <c:idx val="23"/>
        <c:spPr>
          <a:solidFill>
            <a:srgbClr val="FF7C80"/>
          </a:solidFill>
        </c:spPr>
      </c:pivotFmt>
      <c:pivotFmt>
        <c:idx val="24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 sz="1200" b="1"/>
              </a:pPr>
              <a:endParaRPr lang="es-CO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bg1">
              <a:lumMod val="75000"/>
            </a:schemeClr>
          </a:solidFill>
        </c:spPr>
      </c:pivotFmt>
      <c:pivotFmt>
        <c:idx val="26"/>
        <c:spPr>
          <a:solidFill>
            <a:srgbClr val="00B050"/>
          </a:solidFill>
        </c:spPr>
      </c:pivotFmt>
      <c:pivotFmt>
        <c:idx val="27"/>
        <c:spPr>
          <a:solidFill>
            <a:srgbClr val="FF7C80"/>
          </a:solidFill>
        </c:spPr>
      </c:pivotFmt>
    </c:pivotFmts>
    <c:plotArea>
      <c:layout>
        <c:manualLayout>
          <c:layoutTarget val="inner"/>
          <c:xMode val="edge"/>
          <c:yMode val="edge"/>
          <c:x val="0.15839112074569819"/>
          <c:y val="0.24393955377715576"/>
          <c:w val="0.4911347836029033"/>
          <c:h val="0.67973611291571445"/>
        </c:manualLayout>
      </c:layout>
      <c:pieChart>
        <c:varyColors val="1"/>
        <c:ser>
          <c:idx val="0"/>
          <c:order val="0"/>
          <c:tx>
            <c:strRef>
              <c:f>Principal!$B$4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B58A-499E-89CE-487F7C73DEE5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3-B58A-499E-89CE-487F7C73DEE5}"/>
              </c:ext>
            </c:extLst>
          </c:dPt>
          <c:dPt>
            <c:idx val="2"/>
            <c:bubble3D val="0"/>
            <c:spPr>
              <a:solidFill>
                <a:srgbClr val="FF7C80"/>
              </a:solidFill>
            </c:spPr>
            <c:extLst>
              <c:ext xmlns:c16="http://schemas.microsoft.com/office/drawing/2014/chart" uri="{C3380CC4-5D6E-409C-BE32-E72D297353CC}">
                <c16:uniqueId val="{00000005-B58A-499E-89CE-487F7C73DEE5}"/>
              </c:ext>
            </c:extLst>
          </c:dPt>
          <c:dLbls>
            <c:dLbl>
              <c:idx val="2"/>
              <c:layout>
                <c:manualLayout>
                  <c:x val="4.326764751498189E-2"/>
                  <c:y val="0.12193393373333751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B58A-499E-89CE-487F7C73DEE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 b="0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Principal!$A$5:$A$8</c:f>
              <c:strCache>
                <c:ptCount val="3"/>
                <c:pt idx="0">
                  <c:v>Neutra</c:v>
                </c:pt>
                <c:pt idx="1">
                  <c:v>Positiva</c:v>
                </c:pt>
                <c:pt idx="2">
                  <c:v>Negativa</c:v>
                </c:pt>
              </c:strCache>
            </c:strRef>
          </c:cat>
          <c:val>
            <c:numRef>
              <c:f>Principal!$B$5:$B$8</c:f>
              <c:numCache>
                <c:formatCode>0</c:formatCode>
                <c:ptCount val="3"/>
                <c:pt idx="0">
                  <c:v>349</c:v>
                </c:pt>
                <c:pt idx="1">
                  <c:v>267</c:v>
                </c:pt>
                <c:pt idx="2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58A-499E-89CE-487F7C73DE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68470026089437286"/>
          <c:y val="0.49805080418843817"/>
          <c:w val="0.28466911344150414"/>
          <c:h val="0.42182048002334066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12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9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8903822068502084E-2"/>
          <c:y val="0.19595300286936373"/>
          <c:w val="0.88618597865315207"/>
          <c:h val="0.59668572719153257"/>
        </c:manualLayout>
      </c:layout>
      <c:areaChart>
        <c:grouping val="stacked"/>
        <c:varyColors val="0"/>
        <c:ser>
          <c:idx val="3"/>
          <c:order val="3"/>
          <c:tx>
            <c:strRef>
              <c:f>'1. Publi Audie Sentim'!$P$5</c:f>
              <c:strCache>
                <c:ptCount val="1"/>
                <c:pt idx="0">
                  <c:v>Audiencia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dLbls>
            <c:dLbl>
              <c:idx val="0"/>
              <c:layout>
                <c:manualLayout>
                  <c:x val="3.9986146486647667E-2"/>
                  <c:y val="-0.10006548353688766"/>
                </c:manualLayout>
              </c:layout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0"/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680-417F-9DBE-A2274AEE86E4}"/>
                </c:ext>
              </c:extLst>
            </c:dLbl>
            <c:dLbl>
              <c:idx val="1"/>
              <c:layout>
                <c:manualLayout>
                  <c:x val="6.595381691007951E-2"/>
                  <c:y val="-0.3615737219044779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80-417F-9DBE-A2274AEE86E4}"/>
                </c:ext>
              </c:extLst>
            </c:dLbl>
            <c:dLbl>
              <c:idx val="2"/>
              <c:layout>
                <c:manualLayout>
                  <c:x val="-3.7953403365215341E-3"/>
                  <c:y val="-5.75412701300808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680-417F-9DBE-A2274AEE86E4}"/>
                </c:ext>
              </c:extLst>
            </c:dLbl>
            <c:dLbl>
              <c:idx val="3"/>
              <c:layout>
                <c:manualLayout>
                  <c:x val="4.1922174883395023E-2"/>
                  <c:y val="-0.375060301894880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80-417F-9DBE-A2274AEE86E4}"/>
                </c:ext>
              </c:extLst>
            </c:dLbl>
            <c:spPr>
              <a:noFill/>
              <a:ln>
                <a:solidFill>
                  <a:schemeClr val="tx1"/>
                </a:solidFill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'1. Publi Audie Sentim'!$L$6:$L$9</c:f>
              <c:strCache>
                <c:ptCount val="4"/>
                <c:pt idx="0">
                  <c:v>Financieras Especializadas</c:v>
                </c:pt>
                <c:pt idx="1">
                  <c:v>Grupo Empresarial</c:v>
                </c:pt>
                <c:pt idx="2">
                  <c:v>Presidente Ricardo Roa</c:v>
                </c:pt>
                <c:pt idx="3">
                  <c:v>Total general</c:v>
                </c:pt>
              </c:strCache>
            </c:strRef>
          </c:cat>
          <c:val>
            <c:numRef>
              <c:f>'1. Publi Audie Sentim'!$P$6:$P$9</c:f>
              <c:numCache>
                <c:formatCode>#,##0_ </c:formatCode>
                <c:ptCount val="4"/>
                <c:pt idx="0">
                  <c:v>16492753</c:v>
                </c:pt>
                <c:pt idx="1">
                  <c:v>120605052</c:v>
                </c:pt>
                <c:pt idx="3">
                  <c:v>137097805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80-417F-9DBE-A2274AEE8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"/>
        <c:axId val="4"/>
      </c:areaChart>
      <c:barChart>
        <c:barDir val="col"/>
        <c:grouping val="stacked"/>
        <c:varyColors val="0"/>
        <c:ser>
          <c:idx val="0"/>
          <c:order val="0"/>
          <c:tx>
            <c:strRef>
              <c:f>'1. Publi Audie Sentim'!$M$5</c:f>
              <c:strCache>
                <c:ptCount val="1"/>
                <c:pt idx="0">
                  <c:v>Negativa</c:v>
                </c:pt>
              </c:strCache>
            </c:strRef>
          </c:tx>
          <c:spPr>
            <a:gradFill flip="none" rotWithShape="1">
              <a:gsLst>
                <a:gs pos="0">
                  <a:srgbClr val="FF6600">
                    <a:shade val="30000"/>
                    <a:satMod val="115000"/>
                  </a:srgbClr>
                </a:gs>
                <a:gs pos="50000">
                  <a:srgbClr val="FF6600">
                    <a:shade val="67500"/>
                    <a:satMod val="115000"/>
                  </a:srgbClr>
                </a:gs>
                <a:gs pos="100000">
                  <a:srgbClr val="FF66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'1. Publi Audie Sentim'!$L$6:$L$9</c:f>
              <c:strCache>
                <c:ptCount val="4"/>
                <c:pt idx="0">
                  <c:v>Financieras Especializadas</c:v>
                </c:pt>
                <c:pt idx="1">
                  <c:v>Grupo Empresarial</c:v>
                </c:pt>
                <c:pt idx="2">
                  <c:v>Presidente Ricardo Roa</c:v>
                </c:pt>
                <c:pt idx="3">
                  <c:v>Total general</c:v>
                </c:pt>
              </c:strCache>
            </c:strRef>
          </c:cat>
          <c:val>
            <c:numRef>
              <c:f>'1. Publi Audie Sentim'!$M$6:$M$9</c:f>
              <c:numCache>
                <c:formatCode>0_ </c:formatCode>
                <c:ptCount val="4"/>
                <c:pt idx="0">
                  <c:v>22</c:v>
                </c:pt>
                <c:pt idx="1">
                  <c:v>27</c:v>
                </c:pt>
                <c:pt idx="3" formatCode="#,##0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680-417F-9DBE-A2274AEE86E4}"/>
            </c:ext>
          </c:extLst>
        </c:ser>
        <c:ser>
          <c:idx val="1"/>
          <c:order val="1"/>
          <c:tx>
            <c:strRef>
              <c:f>'1. Publi Audie Sentim'!$N$5</c:f>
              <c:strCache>
                <c:ptCount val="1"/>
                <c:pt idx="0">
                  <c:v>Neutra</c:v>
                </c:pt>
              </c:strCache>
            </c:strRef>
          </c:tx>
          <c:spPr>
            <a:gradFill flip="none" rotWithShape="1">
              <a:gsLst>
                <a:gs pos="0">
                  <a:schemeClr val="bg1">
                    <a:lumMod val="50000"/>
                    <a:shade val="30000"/>
                    <a:satMod val="115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4502732308535895E-3"/>
                  <c:y val="-8.4641090428763017E-6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2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680-417F-9DBE-A2274AEE86E4}"/>
                </c:ext>
              </c:extLst>
            </c:dLbl>
            <c:dLbl>
              <c:idx val="1"/>
              <c:spPr>
                <a:noFill/>
                <a:ln w="25400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1680-417F-9DBE-A2274AEE86E4}"/>
                </c:ext>
              </c:extLst>
            </c:dLbl>
            <c:dLbl>
              <c:idx val="2"/>
              <c:layout>
                <c:manualLayout>
                  <c:x val="-7.6687116564417178E-3"/>
                  <c:y val="-1.8645321268543089E-3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1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680-417F-9DBE-A2274AEE86E4}"/>
                </c:ext>
              </c:extLst>
            </c:dLbl>
            <c:dLbl>
              <c:idx val="3"/>
              <c:spPr>
                <a:noFill/>
                <a:ln w="25400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1680-417F-9DBE-A2274AEE86E4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'1. Publi Audie Sentim'!$L$6:$L$9</c:f>
              <c:strCache>
                <c:ptCount val="4"/>
                <c:pt idx="0">
                  <c:v>Financieras Especializadas</c:v>
                </c:pt>
                <c:pt idx="1">
                  <c:v>Grupo Empresarial</c:v>
                </c:pt>
                <c:pt idx="2">
                  <c:v>Presidente Ricardo Roa</c:v>
                </c:pt>
                <c:pt idx="3">
                  <c:v>Total general</c:v>
                </c:pt>
              </c:strCache>
            </c:strRef>
          </c:cat>
          <c:val>
            <c:numRef>
              <c:f>'1. Publi Audie Sentim'!$N$6:$N$9</c:f>
              <c:numCache>
                <c:formatCode>0_ </c:formatCode>
                <c:ptCount val="4"/>
                <c:pt idx="0">
                  <c:v>17</c:v>
                </c:pt>
                <c:pt idx="1">
                  <c:v>332</c:v>
                </c:pt>
                <c:pt idx="3" formatCode="#,##0">
                  <c:v>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680-417F-9DBE-A2274AEE86E4}"/>
            </c:ext>
          </c:extLst>
        </c:ser>
        <c:ser>
          <c:idx val="2"/>
          <c:order val="2"/>
          <c:tx>
            <c:strRef>
              <c:f>'1. Publi Audie Sentim'!$O$5</c:f>
              <c:strCache>
                <c:ptCount val="1"/>
                <c:pt idx="0">
                  <c:v>Positiva</c:v>
                </c:pt>
              </c:strCache>
            </c:strRef>
          </c:tx>
          <c:spPr>
            <a:gradFill flip="none" rotWithShape="1">
              <a:gsLst>
                <a:gs pos="0">
                  <a:srgbClr val="27895A">
                    <a:shade val="30000"/>
                    <a:satMod val="115000"/>
                  </a:srgbClr>
                </a:gs>
                <a:gs pos="50000">
                  <a:srgbClr val="27895A">
                    <a:shade val="67500"/>
                    <a:satMod val="115000"/>
                  </a:srgbClr>
                </a:gs>
                <a:gs pos="100000">
                  <a:srgbClr val="27895A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25400">
              <a:noFill/>
            </a:ln>
          </c:spPr>
          <c:invertIfNegative val="0"/>
          <c:dLbls>
            <c:dLbl>
              <c:idx val="0"/>
              <c:layout>
                <c:manualLayout>
                  <c:x val="-2.0178964890997641E-4"/>
                  <c:y val="2.2633654551496266E-3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2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680-417F-9DBE-A2274AEE86E4}"/>
                </c:ext>
              </c:extLst>
            </c:dLbl>
            <c:dLbl>
              <c:idx val="1"/>
              <c:spPr>
                <a:noFill/>
                <a:ln w="25400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1680-417F-9DBE-A2274AEE86E4}"/>
                </c:ext>
              </c:extLst>
            </c:dLbl>
            <c:dLbl>
              <c:idx val="2"/>
              <c:layout>
                <c:manualLayout>
                  <c:x val="-5.7821766236697408E-2"/>
                  <c:y val="-8.0618031804768245E-2"/>
                </c:manualLayout>
              </c:layout>
              <c:tx>
                <c:rich>
                  <a:bodyPr/>
                  <a:lstStyle/>
                  <a:p>
                    <a:pPr>
                      <a:defRPr sz="1200" b="1" i="0" u="none" strike="noStrike" baseline="0">
                        <a:solidFill>
                          <a:srgbClr val="333333"/>
                        </a:solidFill>
                        <a:latin typeface="Calibri"/>
                        <a:ea typeface="Calibri"/>
                        <a:cs typeface="Calibri"/>
                      </a:defRPr>
                    </a:pPr>
                    <a:r>
                      <a:rPr lang="en-US"/>
                      <a:t>23</a:t>
                    </a:r>
                  </a:p>
                </c:rich>
              </c:tx>
              <c:spPr>
                <a:noFill/>
                <a:ln w="25400"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680-417F-9DBE-A2274AEE86E4}"/>
                </c:ext>
              </c:extLst>
            </c:dLbl>
            <c:dLbl>
              <c:idx val="3"/>
              <c:spPr>
                <a:noFill/>
                <a:ln w="25400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1680-417F-9DBE-A2274AEE86E4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'1. Publi Audie Sentim'!$L$6:$L$9</c:f>
              <c:strCache>
                <c:ptCount val="4"/>
                <c:pt idx="0">
                  <c:v>Financieras Especializadas</c:v>
                </c:pt>
                <c:pt idx="1">
                  <c:v>Grupo Empresarial</c:v>
                </c:pt>
                <c:pt idx="2">
                  <c:v>Presidente Ricardo Roa</c:v>
                </c:pt>
                <c:pt idx="3">
                  <c:v>Total general</c:v>
                </c:pt>
              </c:strCache>
            </c:strRef>
          </c:cat>
          <c:val>
            <c:numRef>
              <c:f>'1. Publi Audie Sentim'!$O$6:$O$9</c:f>
              <c:numCache>
                <c:formatCode>0_ </c:formatCode>
                <c:ptCount val="4"/>
                <c:pt idx="0">
                  <c:v>11</c:v>
                </c:pt>
                <c:pt idx="1">
                  <c:v>256</c:v>
                </c:pt>
                <c:pt idx="3" formatCode="#,##0">
                  <c:v>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1680-417F-9DBE-A2274AEE8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420985264"/>
        <c:axId val="1"/>
      </c:barChart>
      <c:catAx>
        <c:axId val="420985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20985264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numFmt formatCode="#,##0_ " sourceLinked="1"/>
        <c:majorTickMark val="out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3"/>
        <c:crosses val="max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15771427944162553"/>
          <c:y val="0.9160547798428017"/>
          <c:w val="0.5907499609686836"/>
          <c:h val="5.8499740823933055E-2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12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82714112408936E-2"/>
          <c:y val="0.12278416942964222"/>
          <c:w val="0.804561845801262"/>
          <c:h val="0.642650295444076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'2. Sentimiento'!$Q$28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27895A">
                <a:alpha val="100000"/>
              </a:srgbClr>
            </a:solidFill>
            <a:ln w="3175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'2. Sentimiento'!$R$27:$U$27</c:f>
              <c:strCache>
                <c:ptCount val="4"/>
                <c:pt idx="0">
                  <c:v>Mar 16 a Mar 22</c:v>
                </c:pt>
                <c:pt idx="1">
                  <c:v>Mar 23 a Mar 29</c:v>
                </c:pt>
                <c:pt idx="2">
                  <c:v>Mar 39 a Abr 05</c:v>
                </c:pt>
                <c:pt idx="3">
                  <c:v>Abr 06 a Abr 12</c:v>
                </c:pt>
              </c:strCache>
            </c:strRef>
          </c:cat>
          <c:val>
            <c:numRef>
              <c:f>'2. Sentimiento'!$R$28:$U$28</c:f>
              <c:numCache>
                <c:formatCode>General</c:formatCode>
                <c:ptCount val="4"/>
                <c:pt idx="0">
                  <c:v>262</c:v>
                </c:pt>
                <c:pt idx="1">
                  <c:v>244</c:v>
                </c:pt>
                <c:pt idx="2">
                  <c:v>158</c:v>
                </c:pt>
                <c:pt idx="3">
                  <c:v>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08-4114-89A1-5B54B1297A09}"/>
            </c:ext>
          </c:extLst>
        </c:ser>
        <c:ser>
          <c:idx val="1"/>
          <c:order val="1"/>
          <c:tx>
            <c:strRef>
              <c:f>'2. Sentimiento'!$Q$29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'2. Sentimiento'!$R$27:$U$27</c:f>
              <c:strCache>
                <c:ptCount val="4"/>
                <c:pt idx="0">
                  <c:v>Mar 16 a Mar 22</c:v>
                </c:pt>
                <c:pt idx="1">
                  <c:v>Mar 23 a Mar 29</c:v>
                </c:pt>
                <c:pt idx="2">
                  <c:v>Mar 39 a Abr 05</c:v>
                </c:pt>
                <c:pt idx="3">
                  <c:v>Abr 06 a Abr 12</c:v>
                </c:pt>
              </c:strCache>
            </c:strRef>
          </c:cat>
          <c:val>
            <c:numRef>
              <c:f>'2. Sentimiento'!$R$29:$U$29</c:f>
              <c:numCache>
                <c:formatCode>General</c:formatCode>
                <c:ptCount val="4"/>
                <c:pt idx="0">
                  <c:v>188</c:v>
                </c:pt>
                <c:pt idx="1">
                  <c:v>148</c:v>
                </c:pt>
                <c:pt idx="2">
                  <c:v>91</c:v>
                </c:pt>
                <c:pt idx="3">
                  <c:v>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08-4114-89A1-5B54B1297A09}"/>
            </c:ext>
          </c:extLst>
        </c:ser>
        <c:ser>
          <c:idx val="2"/>
          <c:order val="2"/>
          <c:tx>
            <c:strRef>
              <c:f>'2. Sentimiento'!$Q$30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F7C80">
                <a:alpha val="100000"/>
              </a:srgbClr>
            </a:solidFill>
            <a:ln w="3175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'2. Sentimiento'!$R$27:$U$27</c:f>
              <c:strCache>
                <c:ptCount val="4"/>
                <c:pt idx="0">
                  <c:v>Mar 16 a Mar 22</c:v>
                </c:pt>
                <c:pt idx="1">
                  <c:v>Mar 23 a Mar 29</c:v>
                </c:pt>
                <c:pt idx="2">
                  <c:v>Mar 39 a Abr 05</c:v>
                </c:pt>
                <c:pt idx="3">
                  <c:v>Abr 06 a Abr 12</c:v>
                </c:pt>
              </c:strCache>
            </c:strRef>
          </c:cat>
          <c:val>
            <c:numRef>
              <c:f>'2. Sentimiento'!$R$30:$U$30</c:f>
              <c:numCache>
                <c:formatCode>General</c:formatCode>
                <c:ptCount val="4"/>
                <c:pt idx="0">
                  <c:v>211</c:v>
                </c:pt>
                <c:pt idx="1">
                  <c:v>160</c:v>
                </c:pt>
                <c:pt idx="2">
                  <c:v>28</c:v>
                </c:pt>
                <c:pt idx="3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08-4114-89A1-5B54B1297A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71519752"/>
        <c:axId val="1"/>
      </c:barChart>
      <c:lineChart>
        <c:grouping val="stacked"/>
        <c:varyColors val="0"/>
        <c:ser>
          <c:idx val="3"/>
          <c:order val="3"/>
          <c:tx>
            <c:strRef>
              <c:f>'2. Sentimiento'!$Q$31</c:f>
              <c:strCache>
                <c:ptCount val="1"/>
                <c:pt idx="0">
                  <c:v>Total general</c:v>
                </c:pt>
              </c:strCache>
            </c:strRef>
          </c:tx>
          <c:spPr>
            <a:ln w="28575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1.0666666666666666E-2"/>
                  <c:y val="-8.4848484848484854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600" b="1" i="0" u="none" strike="noStrike" baseline="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708-4114-89A1-5B54B1297A09}"/>
                </c:ext>
              </c:extLst>
            </c:dLbl>
            <c:dLbl>
              <c:idx val="2"/>
              <c:layout>
                <c:manualLayout>
                  <c:x val="-1.1940298507463563E-3"/>
                  <c:y val="-8.48484848484849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600" b="1" i="0" u="none" strike="noStrike" baseline="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708-4114-89A1-5B54B1297A09}"/>
                </c:ext>
              </c:extLst>
            </c:dLbl>
            <c:dLbl>
              <c:idx val="3"/>
              <c:layout>
                <c:manualLayout>
                  <c:x val="9.2598425196850388E-3"/>
                  <c:y val="-2.0202020202020204E-2"/>
                </c:manualLayout>
              </c:layout>
              <c:spPr>
                <a:noFill/>
                <a:ln w="3175">
                  <a:noFill/>
                </a:ln>
              </c:spPr>
              <c:txPr>
                <a:bodyPr/>
                <a:lstStyle/>
                <a:p>
                  <a:pPr>
                    <a:defRPr sz="1600" b="1" i="0" u="none" strike="noStrike" baseline="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s-CO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708-4114-89A1-5B54B1297A09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 b="1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'2. Sentimiento'!$R$27:$U$27</c:f>
              <c:strCache>
                <c:ptCount val="4"/>
                <c:pt idx="0">
                  <c:v>Mar 16 a Mar 22</c:v>
                </c:pt>
                <c:pt idx="1">
                  <c:v>Mar 23 a Mar 29</c:v>
                </c:pt>
                <c:pt idx="2">
                  <c:v>Mar 39 a Abr 05</c:v>
                </c:pt>
                <c:pt idx="3">
                  <c:v>Abr 06 a Abr 12</c:v>
                </c:pt>
              </c:strCache>
            </c:strRef>
          </c:cat>
          <c:val>
            <c:numRef>
              <c:f>'2. Sentimiento'!$R$31:$U$31</c:f>
              <c:numCache>
                <c:formatCode>General</c:formatCode>
                <c:ptCount val="4"/>
                <c:pt idx="0">
                  <c:v>661</c:v>
                </c:pt>
                <c:pt idx="1">
                  <c:v>552</c:v>
                </c:pt>
                <c:pt idx="2">
                  <c:v>277</c:v>
                </c:pt>
                <c:pt idx="3">
                  <c:v>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708-4114-89A1-5B54B1297A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471519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14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71519752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3"/>
        <c:crosses val="max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909088195119095"/>
          <c:y val="0.22387462897743876"/>
          <c:w val="7.2566236732378775E-2"/>
          <c:h val="0.53607980624362628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8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7948289447116363E-2"/>
          <c:y val="4.1456761180908512E-2"/>
          <c:w val="0.89494115271580732"/>
          <c:h val="0.541989574650399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'3 y 4. Medios genral y top'!$H$4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3175">
              <a:solidFill>
                <a:schemeClr val="accent1"/>
              </a:solidFill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rgbClr val="333333"/>
                    </a:solidFill>
                    <a:latin typeface="Arial" panose="020B0604020202020204" pitchFamily="34" charset="0"/>
                    <a:ea typeface="Calibri"/>
                    <a:cs typeface="Arial" panose="020B0604020202020204" pitchFamily="3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'3 y 4. Medios genral y top'!$G$5:$G$24</c:f>
              <c:strCache>
                <c:ptCount val="20"/>
                <c:pt idx="0">
                  <c:v>Blu Radio</c:v>
                </c:pt>
                <c:pt idx="1">
                  <c:v>Caracol Radio</c:v>
                </c:pt>
                <c:pt idx="2">
                  <c:v>La FM </c:v>
                </c:pt>
                <c:pt idx="3">
                  <c:v>El Tiempo</c:v>
                </c:pt>
                <c:pt idx="4">
                  <c:v>La República</c:v>
                </c:pt>
                <c:pt idx="5">
                  <c:v>Semana</c:v>
                </c:pt>
                <c:pt idx="6">
                  <c:v>Portafolio</c:v>
                </c:pt>
                <c:pt idx="7">
                  <c:v>Infobae</c:v>
                </c:pt>
                <c:pt idx="8">
                  <c:v>Noticias RCN</c:v>
                </c:pt>
                <c:pt idx="9">
                  <c:v>El Espectador</c:v>
                </c:pt>
                <c:pt idx="10">
                  <c:v>El Colombiano</c:v>
                </c:pt>
                <c:pt idx="11">
                  <c:v>Noticias Caracol</c:v>
                </c:pt>
                <c:pt idx="12">
                  <c:v>LA FM</c:v>
                </c:pt>
                <c:pt idx="13">
                  <c:v>Vanguardia</c:v>
                </c:pt>
                <c:pt idx="14">
                  <c:v>Radio Nacional</c:v>
                </c:pt>
                <c:pt idx="15">
                  <c:v>Enlace Televisión</c:v>
                </c:pt>
                <c:pt idx="16">
                  <c:v>Valora Analitik</c:v>
                </c:pt>
                <c:pt idx="17">
                  <c:v>Estrella Digital</c:v>
                </c:pt>
                <c:pt idx="18">
                  <c:v>El Heraldo</c:v>
                </c:pt>
                <c:pt idx="19">
                  <c:v>Bloomberg</c:v>
                </c:pt>
              </c:strCache>
            </c:strRef>
          </c:cat>
          <c:val>
            <c:numRef>
              <c:f>'3 y 4. Medios genral y top'!$H$5:$H$24</c:f>
              <c:numCache>
                <c:formatCode>General</c:formatCode>
                <c:ptCount val="20"/>
                <c:pt idx="0">
                  <c:v>27</c:v>
                </c:pt>
                <c:pt idx="1">
                  <c:v>21</c:v>
                </c:pt>
                <c:pt idx="2">
                  <c:v>19</c:v>
                </c:pt>
                <c:pt idx="3">
                  <c:v>13</c:v>
                </c:pt>
                <c:pt idx="4">
                  <c:v>9</c:v>
                </c:pt>
                <c:pt idx="5">
                  <c:v>14</c:v>
                </c:pt>
                <c:pt idx="6">
                  <c:v>12</c:v>
                </c:pt>
                <c:pt idx="7">
                  <c:v>11</c:v>
                </c:pt>
                <c:pt idx="8">
                  <c:v>11</c:v>
                </c:pt>
                <c:pt idx="9">
                  <c:v>8</c:v>
                </c:pt>
                <c:pt idx="10">
                  <c:v>8</c:v>
                </c:pt>
                <c:pt idx="11">
                  <c:v>12</c:v>
                </c:pt>
                <c:pt idx="12">
                  <c:v>6</c:v>
                </c:pt>
                <c:pt idx="13">
                  <c:v>7</c:v>
                </c:pt>
                <c:pt idx="14">
                  <c:v>5</c:v>
                </c:pt>
                <c:pt idx="15">
                  <c:v>9</c:v>
                </c:pt>
                <c:pt idx="16">
                  <c:v>2</c:v>
                </c:pt>
                <c:pt idx="17">
                  <c:v>3</c:v>
                </c:pt>
                <c:pt idx="18">
                  <c:v>5</c:v>
                </c:pt>
                <c:pt idx="1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A8-4959-AEA7-EDEEF72D00C9}"/>
            </c:ext>
          </c:extLst>
        </c:ser>
        <c:ser>
          <c:idx val="1"/>
          <c:order val="1"/>
          <c:tx>
            <c:strRef>
              <c:f>'3 y 4. Medios genral y top'!$I$4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00B050"/>
            </a:solidFill>
            <a:ln w="3175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rgbClr val="333333"/>
                    </a:solidFill>
                    <a:latin typeface="Arial" panose="020B0604020202020204" pitchFamily="34" charset="0"/>
                    <a:ea typeface="Calibri"/>
                    <a:cs typeface="Arial" panose="020B0604020202020204" pitchFamily="3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'3 y 4. Medios genral y top'!$G$5:$G$24</c:f>
              <c:strCache>
                <c:ptCount val="20"/>
                <c:pt idx="0">
                  <c:v>Blu Radio</c:v>
                </c:pt>
                <c:pt idx="1">
                  <c:v>Caracol Radio</c:v>
                </c:pt>
                <c:pt idx="2">
                  <c:v>La FM </c:v>
                </c:pt>
                <c:pt idx="3">
                  <c:v>El Tiempo</c:v>
                </c:pt>
                <c:pt idx="4">
                  <c:v>La República</c:v>
                </c:pt>
                <c:pt idx="5">
                  <c:v>Semana</c:v>
                </c:pt>
                <c:pt idx="6">
                  <c:v>Portafolio</c:v>
                </c:pt>
                <c:pt idx="7">
                  <c:v>Infobae</c:v>
                </c:pt>
                <c:pt idx="8">
                  <c:v>Noticias RCN</c:v>
                </c:pt>
                <c:pt idx="9">
                  <c:v>El Espectador</c:v>
                </c:pt>
                <c:pt idx="10">
                  <c:v>El Colombiano</c:v>
                </c:pt>
                <c:pt idx="11">
                  <c:v>Noticias Caracol</c:v>
                </c:pt>
                <c:pt idx="12">
                  <c:v>LA FM</c:v>
                </c:pt>
                <c:pt idx="13">
                  <c:v>Vanguardia</c:v>
                </c:pt>
                <c:pt idx="14">
                  <c:v>Radio Nacional</c:v>
                </c:pt>
                <c:pt idx="15">
                  <c:v>Enlace Televisión</c:v>
                </c:pt>
                <c:pt idx="16">
                  <c:v>Valora Analitik</c:v>
                </c:pt>
                <c:pt idx="17">
                  <c:v>Estrella Digital</c:v>
                </c:pt>
                <c:pt idx="18">
                  <c:v>El Heraldo</c:v>
                </c:pt>
                <c:pt idx="19">
                  <c:v>Bloomberg</c:v>
                </c:pt>
              </c:strCache>
            </c:strRef>
          </c:cat>
          <c:val>
            <c:numRef>
              <c:f>'3 y 4. Medios genral y top'!$I$5:$I$24</c:f>
              <c:numCache>
                <c:formatCode>General</c:formatCode>
                <c:ptCount val="20"/>
                <c:pt idx="0">
                  <c:v>3</c:v>
                </c:pt>
                <c:pt idx="1">
                  <c:v>9</c:v>
                </c:pt>
                <c:pt idx="2">
                  <c:v>4</c:v>
                </c:pt>
                <c:pt idx="3">
                  <c:v>9</c:v>
                </c:pt>
                <c:pt idx="4">
                  <c:v>6</c:v>
                </c:pt>
                <c:pt idx="5">
                  <c:v>2</c:v>
                </c:pt>
                <c:pt idx="6">
                  <c:v>5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2</c:v>
                </c:pt>
                <c:pt idx="11">
                  <c:v>1</c:v>
                </c:pt>
                <c:pt idx="12">
                  <c:v>3</c:v>
                </c:pt>
                <c:pt idx="13">
                  <c:v>1</c:v>
                </c:pt>
                <c:pt idx="14">
                  <c:v>4</c:v>
                </c:pt>
                <c:pt idx="16">
                  <c:v>6</c:v>
                </c:pt>
                <c:pt idx="17">
                  <c:v>5</c:v>
                </c:pt>
                <c:pt idx="18">
                  <c:v>1</c:v>
                </c:pt>
                <c:pt idx="1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A8-4959-AEA7-EDEEF72D00C9}"/>
            </c:ext>
          </c:extLst>
        </c:ser>
        <c:ser>
          <c:idx val="2"/>
          <c:order val="2"/>
          <c:tx>
            <c:strRef>
              <c:f>'3 y 4. Medios genral y top'!$J$4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F7C80"/>
            </a:solidFill>
            <a:ln w="3175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'3 y 4. Medios genral y top'!$G$5:$G$24</c:f>
              <c:strCache>
                <c:ptCount val="20"/>
                <c:pt idx="0">
                  <c:v>Blu Radio</c:v>
                </c:pt>
                <c:pt idx="1">
                  <c:v>Caracol Radio</c:v>
                </c:pt>
                <c:pt idx="2">
                  <c:v>La FM </c:v>
                </c:pt>
                <c:pt idx="3">
                  <c:v>El Tiempo</c:v>
                </c:pt>
                <c:pt idx="4">
                  <c:v>La República</c:v>
                </c:pt>
                <c:pt idx="5">
                  <c:v>Semana</c:v>
                </c:pt>
                <c:pt idx="6">
                  <c:v>Portafolio</c:v>
                </c:pt>
                <c:pt idx="7">
                  <c:v>Infobae</c:v>
                </c:pt>
                <c:pt idx="8">
                  <c:v>Noticias RCN</c:v>
                </c:pt>
                <c:pt idx="9">
                  <c:v>El Espectador</c:v>
                </c:pt>
                <c:pt idx="10">
                  <c:v>El Colombiano</c:v>
                </c:pt>
                <c:pt idx="11">
                  <c:v>Noticias Caracol</c:v>
                </c:pt>
                <c:pt idx="12">
                  <c:v>LA FM</c:v>
                </c:pt>
                <c:pt idx="13">
                  <c:v>Vanguardia</c:v>
                </c:pt>
                <c:pt idx="14">
                  <c:v>Radio Nacional</c:v>
                </c:pt>
                <c:pt idx="15">
                  <c:v>Enlace Televisión</c:v>
                </c:pt>
                <c:pt idx="16">
                  <c:v>Valora Analitik</c:v>
                </c:pt>
                <c:pt idx="17">
                  <c:v>Estrella Digital</c:v>
                </c:pt>
                <c:pt idx="18">
                  <c:v>El Heraldo</c:v>
                </c:pt>
                <c:pt idx="19">
                  <c:v>Bloomberg</c:v>
                </c:pt>
              </c:strCache>
            </c:strRef>
          </c:cat>
          <c:val>
            <c:numRef>
              <c:f>'3 y 4. Medios genral y top'!$J$5:$J$24</c:f>
              <c:numCache>
                <c:formatCode>General</c:formatCode>
                <c:ptCount val="20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4</c:v>
                </c:pt>
                <c:pt idx="12">
                  <c:v>2</c:v>
                </c:pt>
                <c:pt idx="13">
                  <c:v>2</c:v>
                </c:pt>
                <c:pt idx="18">
                  <c:v>2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A8-4959-AEA7-EDEEF72D00C9}"/>
            </c:ext>
          </c:extLst>
        </c:ser>
        <c:ser>
          <c:idx val="3"/>
          <c:order val="3"/>
          <c:tx>
            <c:strRef>
              <c:f>'3 y 4. Medios genral y top'!$K$4</c:f>
              <c:strCache>
                <c:ptCount val="1"/>
                <c:pt idx="0">
                  <c:v>Total general</c:v>
                </c:pt>
              </c:strCache>
            </c:strRef>
          </c:tx>
          <c:spPr>
            <a:solidFill>
              <a:srgbClr val="0070C0"/>
            </a:solidFill>
            <a:ln w="25400"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CA8-4959-AEA7-EDEEF72D00C9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 w="3175">
                <a:noFill/>
              </a:ln>
            </c:spPr>
            <c:extLst>
              <c:ext xmlns:c16="http://schemas.microsoft.com/office/drawing/2014/chart" uri="{C3380CC4-5D6E-409C-BE32-E72D297353CC}">
                <c16:uniqueId val="{00000005-6CA8-4959-AEA7-EDEEF72D00C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6CA8-4959-AEA7-EDEEF72D00C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CA8-4959-AEA7-EDEEF72D00C9}"/>
              </c:ext>
            </c:extLst>
          </c:dPt>
          <c:dPt>
            <c:idx val="4"/>
            <c:invertIfNegative val="0"/>
            <c:bubble3D val="0"/>
            <c:spPr>
              <a:solidFill>
                <a:srgbClr val="0070C0"/>
              </a:solidFill>
              <a:ln w="3175">
                <a:noFill/>
              </a:ln>
            </c:spPr>
            <c:extLst>
              <c:ext xmlns:c16="http://schemas.microsoft.com/office/drawing/2014/chart" uri="{C3380CC4-5D6E-409C-BE32-E72D297353CC}">
                <c16:uniqueId val="{00000009-6CA8-4959-AEA7-EDEEF72D00C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6CA8-4959-AEA7-EDEEF72D00C9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CA8-4959-AEA7-EDEEF72D00C9}"/>
              </c:ext>
            </c:extLst>
          </c:dPt>
          <c:dPt>
            <c:idx val="7"/>
            <c:invertIfNegative val="0"/>
            <c:bubble3D val="0"/>
            <c:spPr>
              <a:solidFill>
                <a:srgbClr val="0070C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0D-6CA8-4959-AEA7-EDEEF72D00C9}"/>
              </c:ext>
            </c:extLst>
          </c:dPt>
          <c:dPt>
            <c:idx val="8"/>
            <c:invertIfNegative val="0"/>
            <c:bubble3D val="0"/>
            <c:spPr>
              <a:solidFill>
                <a:srgbClr val="0070C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0F-6CA8-4959-AEA7-EDEEF72D00C9}"/>
              </c:ext>
            </c:extLst>
          </c:dPt>
          <c:dPt>
            <c:idx val="9"/>
            <c:invertIfNegative val="0"/>
            <c:bubble3D val="0"/>
            <c:spPr>
              <a:solidFill>
                <a:srgbClr val="0070C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11-6CA8-4959-AEA7-EDEEF72D00C9}"/>
              </c:ext>
            </c:extLst>
          </c:dPt>
          <c:dPt>
            <c:idx val="10"/>
            <c:invertIfNegative val="0"/>
            <c:bubble3D val="0"/>
            <c:spPr>
              <a:solidFill>
                <a:srgbClr val="0070C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13-6CA8-4959-AEA7-EDEEF72D00C9}"/>
              </c:ext>
            </c:extLst>
          </c:dPt>
          <c:dPt>
            <c:idx val="11"/>
            <c:invertIfNegative val="0"/>
            <c:bubble3D val="0"/>
            <c:spPr>
              <a:solidFill>
                <a:srgbClr val="0070C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15-6CA8-4959-AEA7-EDEEF72D00C9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6CA8-4959-AEA7-EDEEF72D00C9}"/>
              </c:ext>
            </c:extLst>
          </c:dPt>
          <c:dPt>
            <c:idx val="13"/>
            <c:invertIfNegative val="0"/>
            <c:bubble3D val="0"/>
            <c:spPr>
              <a:solidFill>
                <a:srgbClr val="FFC00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18-6CA8-4959-AEA7-EDEEF72D00C9}"/>
              </c:ext>
            </c:extLst>
          </c:dPt>
          <c:dPt>
            <c:idx val="14"/>
            <c:invertIfNegative val="0"/>
            <c:bubble3D val="0"/>
            <c:spPr>
              <a:solidFill>
                <a:srgbClr val="0070C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1A-6CA8-4959-AEA7-EDEEF72D00C9}"/>
              </c:ext>
            </c:extLst>
          </c:dPt>
          <c:dPt>
            <c:idx val="15"/>
            <c:invertIfNegative val="0"/>
            <c:bubble3D val="0"/>
            <c:spPr>
              <a:solidFill>
                <a:srgbClr val="FFC00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1C-6CA8-4959-AEA7-EDEEF72D00C9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6CA8-4959-AEA7-EDEEF72D00C9}"/>
              </c:ext>
            </c:extLst>
          </c:dPt>
          <c:dPt>
            <c:idx val="17"/>
            <c:invertIfNegative val="0"/>
            <c:bubble3D val="0"/>
            <c:spPr>
              <a:solidFill>
                <a:srgbClr val="0070C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1F-6CA8-4959-AEA7-EDEEF72D00C9}"/>
              </c:ext>
            </c:extLst>
          </c:dPt>
          <c:dPt>
            <c:idx val="18"/>
            <c:invertIfNegative val="0"/>
            <c:bubble3D val="0"/>
            <c:spPr>
              <a:solidFill>
                <a:srgbClr val="FFC000"/>
              </a:solidFill>
              <a:ln w="9525">
                <a:noFill/>
              </a:ln>
            </c:spPr>
            <c:extLst>
              <c:ext xmlns:c16="http://schemas.microsoft.com/office/drawing/2014/chart" uri="{C3380CC4-5D6E-409C-BE32-E72D297353CC}">
                <c16:uniqueId val="{00000021-6CA8-4959-AEA7-EDEEF72D00C9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2-6CA8-4959-AEA7-EDEEF72D00C9}"/>
              </c:ext>
            </c:extLst>
          </c:dPt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rgbClr val="333333"/>
                    </a:solidFill>
                    <a:latin typeface="Arial" panose="020B0604020202020204" pitchFamily="34" charset="0"/>
                    <a:ea typeface="Calibri"/>
                    <a:cs typeface="Arial" panose="020B0604020202020204" pitchFamily="3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'3 y 4. Medios genral y top'!$G$5:$G$24</c:f>
              <c:strCache>
                <c:ptCount val="20"/>
                <c:pt idx="0">
                  <c:v>Blu Radio</c:v>
                </c:pt>
                <c:pt idx="1">
                  <c:v>Caracol Radio</c:v>
                </c:pt>
                <c:pt idx="2">
                  <c:v>La FM </c:v>
                </c:pt>
                <c:pt idx="3">
                  <c:v>El Tiempo</c:v>
                </c:pt>
                <c:pt idx="4">
                  <c:v>La República</c:v>
                </c:pt>
                <c:pt idx="5">
                  <c:v>Semana</c:v>
                </c:pt>
                <c:pt idx="6">
                  <c:v>Portafolio</c:v>
                </c:pt>
                <c:pt idx="7">
                  <c:v>Infobae</c:v>
                </c:pt>
                <c:pt idx="8">
                  <c:v>Noticias RCN</c:v>
                </c:pt>
                <c:pt idx="9">
                  <c:v>El Espectador</c:v>
                </c:pt>
                <c:pt idx="10">
                  <c:v>El Colombiano</c:v>
                </c:pt>
                <c:pt idx="11">
                  <c:v>Noticias Caracol</c:v>
                </c:pt>
                <c:pt idx="12">
                  <c:v>LA FM</c:v>
                </c:pt>
                <c:pt idx="13">
                  <c:v>Vanguardia</c:v>
                </c:pt>
                <c:pt idx="14">
                  <c:v>Radio Nacional</c:v>
                </c:pt>
                <c:pt idx="15">
                  <c:v>Enlace Televisión</c:v>
                </c:pt>
                <c:pt idx="16">
                  <c:v>Valora Analitik</c:v>
                </c:pt>
                <c:pt idx="17">
                  <c:v>Estrella Digital</c:v>
                </c:pt>
                <c:pt idx="18">
                  <c:v>El Heraldo</c:v>
                </c:pt>
                <c:pt idx="19">
                  <c:v>Bloomberg</c:v>
                </c:pt>
              </c:strCache>
            </c:strRef>
          </c:cat>
          <c:val>
            <c:numRef>
              <c:f>'3 y 4. Medios genral y top'!$K$5:$K$24</c:f>
              <c:numCache>
                <c:formatCode>General</c:formatCode>
                <c:ptCount val="20"/>
                <c:pt idx="0">
                  <c:v>34</c:v>
                </c:pt>
                <c:pt idx="1">
                  <c:v>31</c:v>
                </c:pt>
                <c:pt idx="2">
                  <c:v>25</c:v>
                </c:pt>
                <c:pt idx="3">
                  <c:v>24</c:v>
                </c:pt>
                <c:pt idx="4">
                  <c:v>19</c:v>
                </c:pt>
                <c:pt idx="5">
                  <c:v>18</c:v>
                </c:pt>
                <c:pt idx="6">
                  <c:v>17</c:v>
                </c:pt>
                <c:pt idx="7">
                  <c:v>16</c:v>
                </c:pt>
                <c:pt idx="8">
                  <c:v>15</c:v>
                </c:pt>
                <c:pt idx="9">
                  <c:v>14</c:v>
                </c:pt>
                <c:pt idx="10">
                  <c:v>14</c:v>
                </c:pt>
                <c:pt idx="11">
                  <c:v>13</c:v>
                </c:pt>
                <c:pt idx="12">
                  <c:v>11</c:v>
                </c:pt>
                <c:pt idx="13">
                  <c:v>10</c:v>
                </c:pt>
                <c:pt idx="14">
                  <c:v>9</c:v>
                </c:pt>
                <c:pt idx="15">
                  <c:v>9</c:v>
                </c:pt>
                <c:pt idx="16">
                  <c:v>8</c:v>
                </c:pt>
                <c:pt idx="17">
                  <c:v>8</c:v>
                </c:pt>
                <c:pt idx="18">
                  <c:v>8</c:v>
                </c:pt>
                <c:pt idx="19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3-6CA8-4959-AEA7-EDEEF72D00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1571440"/>
        <c:axId val="1"/>
      </c:barChart>
      <c:catAx>
        <c:axId val="42157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2700000" vert="horz"/>
          <a:lstStyle/>
          <a:p>
            <a:pPr>
              <a:defRPr sz="1200" b="0" i="0" u="none" strike="noStrike" baseline="0">
                <a:solidFill>
                  <a:srgbClr val="333333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21571440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egendEntry>
        <c:idx val="3"/>
        <c:delete val="1"/>
      </c:legendEntry>
      <c:layout>
        <c:manualLayout>
          <c:xMode val="edge"/>
          <c:yMode val="edge"/>
          <c:x val="7.0135858137705259E-2"/>
          <c:y val="0.90831791714166721"/>
          <c:w val="0.31875002089706939"/>
          <c:h val="4.3999976193451973E-2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11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1996013303081442"/>
          <c:y val="7.4029850746268694E-2"/>
          <c:w val="0.51418576377027836"/>
          <c:h val="0.745607309170842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'5. Web'!$J$15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00" b="1" i="0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'5. Web'!$I$16:$I$21</c:f>
              <c:strCache>
                <c:ptCount val="6"/>
                <c:pt idx="0">
                  <c:v>Noticias Caracol</c:v>
                </c:pt>
                <c:pt idx="1">
                  <c:v>Noticias RCN</c:v>
                </c:pt>
                <c:pt idx="2">
                  <c:v>Enlace Televisión</c:v>
                </c:pt>
                <c:pt idx="3">
                  <c:v>RTVC NOTICIAS</c:v>
                </c:pt>
                <c:pt idx="4">
                  <c:v>NOTI CENTRO NOTICIAS</c:v>
                </c:pt>
                <c:pt idx="5">
                  <c:v>PRIMERA PÁGINA</c:v>
                </c:pt>
              </c:strCache>
            </c:strRef>
          </c:cat>
          <c:val>
            <c:numRef>
              <c:f>'5. Web'!$J$16:$J$21</c:f>
              <c:numCache>
                <c:formatCode>General</c:formatCode>
                <c:ptCount val="6"/>
                <c:pt idx="0">
                  <c:v>10</c:v>
                </c:pt>
                <c:pt idx="1">
                  <c:v>8</c:v>
                </c:pt>
                <c:pt idx="2">
                  <c:v>7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9A-4B20-86C2-12C96E27E1FC}"/>
            </c:ext>
          </c:extLst>
        </c:ser>
        <c:ser>
          <c:idx val="1"/>
          <c:order val="1"/>
          <c:tx>
            <c:strRef>
              <c:f>'5. Web'!$K$15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00B050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'5. Web'!$I$16:$I$21</c:f>
              <c:strCache>
                <c:ptCount val="6"/>
                <c:pt idx="0">
                  <c:v>Noticias Caracol</c:v>
                </c:pt>
                <c:pt idx="1">
                  <c:v>Noticias RCN</c:v>
                </c:pt>
                <c:pt idx="2">
                  <c:v>Enlace Televisión</c:v>
                </c:pt>
                <c:pt idx="3">
                  <c:v>RTVC NOTICIAS</c:v>
                </c:pt>
                <c:pt idx="4">
                  <c:v>NOTI CENTRO NOTICIAS</c:v>
                </c:pt>
                <c:pt idx="5">
                  <c:v>PRIMERA PÁGINA</c:v>
                </c:pt>
              </c:strCache>
            </c:strRef>
          </c:cat>
          <c:val>
            <c:numRef>
              <c:f>'5. Web'!$K$16:$K$21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3">
                  <c:v>3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9A-4B20-86C2-12C96E27E1FC}"/>
            </c:ext>
          </c:extLst>
        </c:ser>
        <c:ser>
          <c:idx val="2"/>
          <c:order val="2"/>
          <c:tx>
            <c:strRef>
              <c:f>'5. Web'!$L$15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F7C80"/>
            </a:solidFill>
          </c:spPr>
          <c:invertIfNegative val="0"/>
          <c:dLbls>
            <c:spPr>
              <a:solidFill>
                <a:srgbClr val="FF7C80"/>
              </a:solidFill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'5. Web'!$I$16:$I$21</c:f>
              <c:strCache>
                <c:ptCount val="6"/>
                <c:pt idx="0">
                  <c:v>Noticias Caracol</c:v>
                </c:pt>
                <c:pt idx="1">
                  <c:v>Noticias RCN</c:v>
                </c:pt>
                <c:pt idx="2">
                  <c:v>Enlace Televisión</c:v>
                </c:pt>
                <c:pt idx="3">
                  <c:v>RTVC NOTICIAS</c:v>
                </c:pt>
                <c:pt idx="4">
                  <c:v>NOTI CENTRO NOTICIAS</c:v>
                </c:pt>
                <c:pt idx="5">
                  <c:v>PRIMERA PÁGINA</c:v>
                </c:pt>
              </c:strCache>
            </c:strRef>
          </c:cat>
          <c:val>
            <c:numRef>
              <c:f>'5. Web'!$L$16:$L$21</c:f>
              <c:numCache>
                <c:formatCode>General</c:formatCode>
                <c:ptCount val="6"/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59A-4B20-86C2-12C96E27E1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22566752"/>
        <c:axId val="1"/>
      </c:barChart>
      <c:catAx>
        <c:axId val="422566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22566752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3019134288541801"/>
          <c:y val="0.88789507381412303"/>
          <c:w val="0.54268980534800415"/>
          <c:h val="0.11210504327561524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8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019636481147647"/>
          <c:y val="7.4029850746268694E-2"/>
          <c:w val="0.50117698495423535"/>
          <c:h val="0.76034974687387635"/>
        </c:manualLayout>
      </c:layout>
      <c:barChart>
        <c:barDir val="bar"/>
        <c:grouping val="stacked"/>
        <c:varyColors val="0"/>
        <c:ser>
          <c:idx val="3"/>
          <c:order val="0"/>
          <c:tx>
            <c:strRef>
              <c:f>'5. Web'!$M$65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solidFill>
                      <a:schemeClr val="tx1"/>
                    </a:solidFill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'5. Web'!$L$66:$L$71</c:f>
              <c:strCache>
                <c:ptCount val="6"/>
                <c:pt idx="0">
                  <c:v>Blu Radio</c:v>
                </c:pt>
                <c:pt idx="1">
                  <c:v>La FM </c:v>
                </c:pt>
                <c:pt idx="2">
                  <c:v>Caracol Radio</c:v>
                </c:pt>
                <c:pt idx="3">
                  <c:v>Radio Nacional</c:v>
                </c:pt>
                <c:pt idx="4">
                  <c:v>JAVERIANA ST</c:v>
                </c:pt>
                <c:pt idx="5">
                  <c:v>COLMUNDO</c:v>
                </c:pt>
              </c:strCache>
            </c:strRef>
          </c:cat>
          <c:val>
            <c:numRef>
              <c:f>'5. Web'!$M$66:$M$71</c:f>
              <c:numCache>
                <c:formatCode>General</c:formatCode>
                <c:ptCount val="6"/>
                <c:pt idx="0">
                  <c:v>24</c:v>
                </c:pt>
                <c:pt idx="1">
                  <c:v>19</c:v>
                </c:pt>
                <c:pt idx="2">
                  <c:v>20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07-4E02-ACBA-1C1CFDC02528}"/>
            </c:ext>
          </c:extLst>
        </c:ser>
        <c:ser>
          <c:idx val="4"/>
          <c:order val="1"/>
          <c:tx>
            <c:strRef>
              <c:f>'5. Web'!$N$65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27895A"/>
            </a:solidFill>
            <a:ln w="2540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/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'5. Web'!$L$66:$L$71</c:f>
              <c:strCache>
                <c:ptCount val="6"/>
                <c:pt idx="0">
                  <c:v>Blu Radio</c:v>
                </c:pt>
                <c:pt idx="1">
                  <c:v>La FM </c:v>
                </c:pt>
                <c:pt idx="2">
                  <c:v>Caracol Radio</c:v>
                </c:pt>
                <c:pt idx="3">
                  <c:v>Radio Nacional</c:v>
                </c:pt>
                <c:pt idx="4">
                  <c:v>JAVERIANA ST</c:v>
                </c:pt>
                <c:pt idx="5">
                  <c:v>COLMUNDO</c:v>
                </c:pt>
              </c:strCache>
            </c:strRef>
          </c:cat>
          <c:val>
            <c:numRef>
              <c:f>'5. Web'!$N$66:$N$71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07-4E02-ACBA-1C1CFDC02528}"/>
            </c:ext>
          </c:extLst>
        </c:ser>
        <c:ser>
          <c:idx val="5"/>
          <c:order val="2"/>
          <c:tx>
            <c:strRef>
              <c:f>'5. Web'!$O$65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F7C8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/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'5. Web'!$L$66:$L$71</c:f>
              <c:strCache>
                <c:ptCount val="6"/>
                <c:pt idx="0">
                  <c:v>Blu Radio</c:v>
                </c:pt>
                <c:pt idx="1">
                  <c:v>La FM </c:v>
                </c:pt>
                <c:pt idx="2">
                  <c:v>Caracol Radio</c:v>
                </c:pt>
                <c:pt idx="3">
                  <c:v>Radio Nacional</c:v>
                </c:pt>
                <c:pt idx="4">
                  <c:v>JAVERIANA ST</c:v>
                </c:pt>
                <c:pt idx="5">
                  <c:v>COLMUNDO</c:v>
                </c:pt>
              </c:strCache>
            </c:strRef>
          </c:cat>
          <c:val>
            <c:numRef>
              <c:f>'5. Web'!$O$66:$O$71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07-4E02-ACBA-1C1CFDC025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22566752"/>
        <c:axId val="1"/>
      </c:barChart>
      <c:catAx>
        <c:axId val="422566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22566752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31444346770562737"/>
          <c:y val="0.88133421807323176"/>
          <c:w val="0.54268980534800415"/>
          <c:h val="0.11210504327561524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8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6559723609668354"/>
          <c:y val="0.13843332970119929"/>
          <c:w val="0.55033781111935698"/>
          <c:h val="0.6963389572190283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'5. Web'!$I$134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'5. Web'!$H$135:$H$140</c:f>
              <c:strCache>
                <c:ptCount val="6"/>
                <c:pt idx="0">
                  <c:v>El Tiempo</c:v>
                </c:pt>
                <c:pt idx="1">
                  <c:v>Portafolio</c:v>
                </c:pt>
                <c:pt idx="2">
                  <c:v>Vanguardia</c:v>
                </c:pt>
                <c:pt idx="3">
                  <c:v>El Espectador</c:v>
                </c:pt>
                <c:pt idx="4">
                  <c:v>La República</c:v>
                </c:pt>
                <c:pt idx="5">
                  <c:v>Semana</c:v>
                </c:pt>
              </c:strCache>
            </c:strRef>
          </c:cat>
          <c:val>
            <c:numRef>
              <c:f>'5. Web'!$I$135:$I$140</c:f>
              <c:numCache>
                <c:formatCode>General</c:formatCode>
                <c:ptCount val="6"/>
                <c:pt idx="0">
                  <c:v>7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24-4700-B847-B9DC68B30B9E}"/>
            </c:ext>
          </c:extLst>
        </c:ser>
        <c:ser>
          <c:idx val="1"/>
          <c:order val="1"/>
          <c:tx>
            <c:strRef>
              <c:f>'5. Web'!$J$134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00B050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'5. Web'!$H$135:$H$140</c:f>
              <c:strCache>
                <c:ptCount val="6"/>
                <c:pt idx="0">
                  <c:v>El Tiempo</c:v>
                </c:pt>
                <c:pt idx="1">
                  <c:v>Portafolio</c:v>
                </c:pt>
                <c:pt idx="2">
                  <c:v>Vanguardia</c:v>
                </c:pt>
                <c:pt idx="3">
                  <c:v>El Espectador</c:v>
                </c:pt>
                <c:pt idx="4">
                  <c:v>La República</c:v>
                </c:pt>
                <c:pt idx="5">
                  <c:v>Semana</c:v>
                </c:pt>
              </c:strCache>
            </c:strRef>
          </c:cat>
          <c:val>
            <c:numRef>
              <c:f>'5. Web'!$J$135:$J$140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24-4700-B847-B9DC68B30B9E}"/>
            </c:ext>
          </c:extLst>
        </c:ser>
        <c:ser>
          <c:idx val="2"/>
          <c:order val="2"/>
          <c:tx>
            <c:strRef>
              <c:f>'5. Web'!$K$134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F7C80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00" b="1" i="0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'5. Web'!$H$135:$H$140</c:f>
              <c:strCache>
                <c:ptCount val="6"/>
                <c:pt idx="0">
                  <c:v>El Tiempo</c:v>
                </c:pt>
                <c:pt idx="1">
                  <c:v>Portafolio</c:v>
                </c:pt>
                <c:pt idx="2">
                  <c:v>Vanguardia</c:v>
                </c:pt>
                <c:pt idx="3">
                  <c:v>El Espectador</c:v>
                </c:pt>
                <c:pt idx="4">
                  <c:v>La República</c:v>
                </c:pt>
                <c:pt idx="5">
                  <c:v>Semana</c:v>
                </c:pt>
              </c:strCache>
            </c:strRef>
          </c:cat>
          <c:val>
            <c:numRef>
              <c:f>'5. Web'!$K$135:$K$140</c:f>
              <c:numCache>
                <c:formatCode>General</c:formatCode>
                <c:ptCount val="6"/>
                <c:pt idx="0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24-4700-B847-B9DC68B30B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22559208"/>
        <c:axId val="1"/>
      </c:barChart>
      <c:catAx>
        <c:axId val="422559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22559208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16544924308703834"/>
          <c:y val="0.8892931080244183"/>
          <c:w val="0.82425011267530957"/>
          <c:h val="9.8500103217434853E-2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8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9881645685262753"/>
          <c:y val="5.1895848332133399E-2"/>
          <c:w val="0.65172613774871813"/>
          <c:h val="0.7773313944433688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'5. Web'!$O$163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'5. Web'!$N$164:$N$169</c:f>
              <c:strCache>
                <c:ptCount val="6"/>
                <c:pt idx="0">
                  <c:v>Infobae</c:v>
                </c:pt>
                <c:pt idx="1">
                  <c:v>Semana</c:v>
                </c:pt>
                <c:pt idx="2">
                  <c:v>La República</c:v>
                </c:pt>
                <c:pt idx="3">
                  <c:v>El Tiempo</c:v>
                </c:pt>
                <c:pt idx="4">
                  <c:v>El Colombiano</c:v>
                </c:pt>
                <c:pt idx="5">
                  <c:v>LA FM</c:v>
                </c:pt>
              </c:strCache>
            </c:strRef>
          </c:cat>
          <c:val>
            <c:numRef>
              <c:f>'5. Web'!$O$164:$O$169</c:f>
              <c:numCache>
                <c:formatCode>General</c:formatCode>
                <c:ptCount val="6"/>
                <c:pt idx="0">
                  <c:v>11</c:v>
                </c:pt>
                <c:pt idx="1">
                  <c:v>12</c:v>
                </c:pt>
                <c:pt idx="2">
                  <c:v>8</c:v>
                </c:pt>
                <c:pt idx="3">
                  <c:v>6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48-4E1F-80D9-6EC8F35FB732}"/>
            </c:ext>
          </c:extLst>
        </c:ser>
        <c:ser>
          <c:idx val="1"/>
          <c:order val="1"/>
          <c:tx>
            <c:strRef>
              <c:f>'5. Web'!$P$163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00B050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'5. Web'!$N$164:$N$169</c:f>
              <c:strCache>
                <c:ptCount val="6"/>
                <c:pt idx="0">
                  <c:v>Infobae</c:v>
                </c:pt>
                <c:pt idx="1">
                  <c:v>Semana</c:v>
                </c:pt>
                <c:pt idx="2">
                  <c:v>La República</c:v>
                </c:pt>
                <c:pt idx="3">
                  <c:v>El Tiempo</c:v>
                </c:pt>
                <c:pt idx="4">
                  <c:v>El Colombiano</c:v>
                </c:pt>
                <c:pt idx="5">
                  <c:v>LA FM</c:v>
                </c:pt>
              </c:strCache>
            </c:strRef>
          </c:cat>
          <c:val>
            <c:numRef>
              <c:f>'5. Web'!$P$164:$P$169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8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48-4E1F-80D9-6EC8F35FB732}"/>
            </c:ext>
          </c:extLst>
        </c:ser>
        <c:ser>
          <c:idx val="2"/>
          <c:order val="2"/>
          <c:tx>
            <c:strRef>
              <c:f>'5. Web'!$Q$163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F7C80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'5. Web'!$N$164:$N$169</c:f>
              <c:strCache>
                <c:ptCount val="6"/>
                <c:pt idx="0">
                  <c:v>Infobae</c:v>
                </c:pt>
                <c:pt idx="1">
                  <c:v>Semana</c:v>
                </c:pt>
                <c:pt idx="2">
                  <c:v>La República</c:v>
                </c:pt>
                <c:pt idx="3">
                  <c:v>El Tiempo</c:v>
                </c:pt>
                <c:pt idx="4">
                  <c:v>El Colombiano</c:v>
                </c:pt>
                <c:pt idx="5">
                  <c:v>LA FM</c:v>
                </c:pt>
              </c:strCache>
            </c:strRef>
          </c:cat>
          <c:val>
            <c:numRef>
              <c:f>'5. Web'!$Q$164:$Q$169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48-4E1F-80D9-6EC8F35FB7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22564128"/>
        <c:axId val="1"/>
      </c:barChart>
      <c:catAx>
        <c:axId val="422564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22564128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10550541191700528"/>
          <c:y val="0.90597908867948884"/>
          <c:w val="0.53855035457777056"/>
          <c:h val="6.3942496693795509E-2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8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543662201215879E-2"/>
          <c:y val="2.37420162416026E-2"/>
          <c:w val="0.89612312926419202"/>
          <c:h val="0.57765492855059797"/>
        </c:manualLayout>
      </c:layout>
      <c:areaChart>
        <c:grouping val="stacked"/>
        <c:varyColors val="0"/>
        <c:ser>
          <c:idx val="5"/>
          <c:order val="5"/>
          <c:tx>
            <c:strRef>
              <c:f>'7. Nal - Regional'!$X$10</c:f>
              <c:strCache>
                <c:ptCount val="1"/>
                <c:pt idx="0">
                  <c:v>Audiencia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cat>
            <c:strRef>
              <c:f>'7. Nal - Regional'!$R$11:$R$16</c:f>
              <c:strCache>
                <c:ptCount val="6"/>
                <c:pt idx="0">
                  <c:v>Magdalena Medio</c:v>
                </c:pt>
                <c:pt idx="1">
                  <c:v>Región Caribe</c:v>
                </c:pt>
                <c:pt idx="2">
                  <c:v>Región Sur</c:v>
                </c:pt>
                <c:pt idx="3">
                  <c:v>Casanare y Arauca</c:v>
                </c:pt>
                <c:pt idx="4">
                  <c:v>Meta</c:v>
                </c:pt>
                <c:pt idx="5">
                  <c:v>Otros departamentos</c:v>
                </c:pt>
              </c:strCache>
            </c:strRef>
          </c:cat>
          <c:val>
            <c:numRef>
              <c:f>'7. Nal - Regional'!$X$11:$X$16</c:f>
              <c:numCache>
                <c:formatCode>#,##0_ </c:formatCode>
                <c:ptCount val="6"/>
                <c:pt idx="0">
                  <c:v>1066300</c:v>
                </c:pt>
                <c:pt idx="1">
                  <c:v>695700</c:v>
                </c:pt>
                <c:pt idx="2">
                  <c:v>151750</c:v>
                </c:pt>
                <c:pt idx="3">
                  <c:v>19850</c:v>
                </c:pt>
                <c:pt idx="4">
                  <c:v>22500</c:v>
                </c:pt>
                <c:pt idx="5">
                  <c:v>3687840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BB-4CA6-99E7-CCDDF9AE1F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"/>
        <c:axId val="4"/>
      </c:areaChart>
      <c:barChart>
        <c:barDir val="col"/>
        <c:grouping val="clustered"/>
        <c:varyColors val="0"/>
        <c:ser>
          <c:idx val="0"/>
          <c:order val="0"/>
          <c:tx>
            <c:strRef>
              <c:f>'7. Nal - Regional'!$S$10</c:f>
              <c:strCache>
                <c:ptCount val="1"/>
                <c:pt idx="0">
                  <c:v>Negativa</c:v>
                </c:pt>
              </c:strCache>
            </c:strRef>
          </c:tx>
          <c:spPr>
            <a:solidFill>
              <a:srgbClr val="F9680D"/>
            </a:solidFill>
            <a:ln w="3175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'7. Nal - Regional'!$R$11:$R$16</c:f>
              <c:strCache>
                <c:ptCount val="6"/>
                <c:pt idx="0">
                  <c:v>Magdalena Medio</c:v>
                </c:pt>
                <c:pt idx="1">
                  <c:v>Región Caribe</c:v>
                </c:pt>
                <c:pt idx="2">
                  <c:v>Región Sur</c:v>
                </c:pt>
                <c:pt idx="3">
                  <c:v>Casanare y Arauca</c:v>
                </c:pt>
                <c:pt idx="4">
                  <c:v>Meta</c:v>
                </c:pt>
                <c:pt idx="5">
                  <c:v>Otros departamentos</c:v>
                </c:pt>
              </c:strCache>
            </c:strRef>
          </c:cat>
          <c:val>
            <c:numRef>
              <c:f>'7. Nal - Regional'!$S$11:$S$16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4">
                  <c:v>9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BB-4CA6-99E7-CCDDF9AE1F91}"/>
            </c:ext>
          </c:extLst>
        </c:ser>
        <c:ser>
          <c:idx val="1"/>
          <c:order val="1"/>
          <c:tx>
            <c:strRef>
              <c:f>'7. Nal - Regional'!$T$10</c:f>
              <c:strCache>
                <c:ptCount val="1"/>
                <c:pt idx="0">
                  <c:v>Neutra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'7. Nal - Regional'!$R$11:$R$16</c:f>
              <c:strCache>
                <c:ptCount val="6"/>
                <c:pt idx="0">
                  <c:v>Magdalena Medio</c:v>
                </c:pt>
                <c:pt idx="1">
                  <c:v>Región Caribe</c:v>
                </c:pt>
                <c:pt idx="2">
                  <c:v>Región Sur</c:v>
                </c:pt>
                <c:pt idx="3">
                  <c:v>Casanare y Arauca</c:v>
                </c:pt>
                <c:pt idx="4">
                  <c:v>Meta</c:v>
                </c:pt>
                <c:pt idx="5">
                  <c:v>Otros departamentos</c:v>
                </c:pt>
              </c:strCache>
            </c:strRef>
          </c:cat>
          <c:val>
            <c:numRef>
              <c:f>'7. Nal - Regional'!$T$11:$T$16</c:f>
              <c:numCache>
                <c:formatCode>General</c:formatCode>
                <c:ptCount val="6"/>
                <c:pt idx="0">
                  <c:v>27</c:v>
                </c:pt>
                <c:pt idx="1">
                  <c:v>21</c:v>
                </c:pt>
                <c:pt idx="2">
                  <c:v>17</c:v>
                </c:pt>
                <c:pt idx="3">
                  <c:v>8</c:v>
                </c:pt>
                <c:pt idx="5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BB-4CA6-99E7-CCDDF9AE1F91}"/>
            </c:ext>
          </c:extLst>
        </c:ser>
        <c:ser>
          <c:idx val="2"/>
          <c:order val="2"/>
          <c:tx>
            <c:strRef>
              <c:f>'7. Nal - Regional'!$U$10</c:f>
              <c:strCache>
                <c:ptCount val="1"/>
                <c:pt idx="0">
                  <c:v>Positiva</c:v>
                </c:pt>
              </c:strCache>
            </c:strRef>
          </c:tx>
          <c:spPr>
            <a:solidFill>
              <a:srgbClr val="27895A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'7. Nal - Regional'!$R$11:$R$16</c:f>
              <c:strCache>
                <c:ptCount val="6"/>
                <c:pt idx="0">
                  <c:v>Magdalena Medio</c:v>
                </c:pt>
                <c:pt idx="1">
                  <c:v>Región Caribe</c:v>
                </c:pt>
                <c:pt idx="2">
                  <c:v>Región Sur</c:v>
                </c:pt>
                <c:pt idx="3">
                  <c:v>Casanare y Arauca</c:v>
                </c:pt>
                <c:pt idx="4">
                  <c:v>Meta</c:v>
                </c:pt>
                <c:pt idx="5">
                  <c:v>Otros departamentos</c:v>
                </c:pt>
              </c:strCache>
            </c:strRef>
          </c:cat>
          <c:val>
            <c:numRef>
              <c:f>'7. Nal - Regional'!$U$11:$U$16</c:f>
              <c:numCache>
                <c:formatCode>General</c:formatCode>
                <c:ptCount val="6"/>
                <c:pt idx="0">
                  <c:v>30</c:v>
                </c:pt>
                <c:pt idx="1">
                  <c:v>31</c:v>
                </c:pt>
                <c:pt idx="2">
                  <c:v>49</c:v>
                </c:pt>
                <c:pt idx="3">
                  <c:v>6</c:v>
                </c:pt>
                <c:pt idx="4">
                  <c:v>18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CBB-4CA6-99E7-CCDDF9AE1F91}"/>
            </c:ext>
          </c:extLst>
        </c:ser>
        <c:ser>
          <c:idx val="4"/>
          <c:order val="4"/>
          <c:tx>
            <c:strRef>
              <c:f>'7. Nal - Regional'!$W$10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'7. Nal - Regional'!$R$11:$R$16</c:f>
              <c:strCache>
                <c:ptCount val="6"/>
                <c:pt idx="0">
                  <c:v>Magdalena Medio</c:v>
                </c:pt>
                <c:pt idx="1">
                  <c:v>Región Caribe</c:v>
                </c:pt>
                <c:pt idx="2">
                  <c:v>Región Sur</c:v>
                </c:pt>
                <c:pt idx="3">
                  <c:v>Casanare y Arauca</c:v>
                </c:pt>
                <c:pt idx="4">
                  <c:v>Meta</c:v>
                </c:pt>
                <c:pt idx="5">
                  <c:v>Otros departamentos</c:v>
                </c:pt>
              </c:strCache>
            </c:strRef>
          </c:cat>
          <c:val>
            <c:numRef>
              <c:f>'7. Nal - Regional'!$W$11:$W$16</c:f>
              <c:numCache>
                <c:formatCode>General</c:formatCode>
                <c:ptCount val="6"/>
                <c:pt idx="0">
                  <c:v>60</c:v>
                </c:pt>
                <c:pt idx="1">
                  <c:v>55</c:v>
                </c:pt>
                <c:pt idx="2">
                  <c:v>67</c:v>
                </c:pt>
                <c:pt idx="3">
                  <c:v>14</c:v>
                </c:pt>
                <c:pt idx="4">
                  <c:v>27</c:v>
                </c:pt>
                <c:pt idx="5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BB-4CA6-99E7-CCDDF9AE1F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7009368"/>
        <c:axId val="1"/>
      </c:barChart>
      <c:barChart>
        <c:barDir val="col"/>
        <c:grouping val="clustered"/>
        <c:varyColors val="0"/>
        <c:ser>
          <c:idx val="3"/>
          <c:order val="3"/>
          <c:tx>
            <c:strRef>
              <c:f>'7. Nal - Regional'!$V$10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  <a:ln w="25400">
              <a:noFill/>
            </a:ln>
          </c:spPr>
          <c:invertIfNegative val="0"/>
          <c:cat>
            <c:strRef>
              <c:f>'7. Nal - Regional'!$R$11:$R$16</c:f>
              <c:strCache>
                <c:ptCount val="6"/>
                <c:pt idx="0">
                  <c:v>Magdalena Medio</c:v>
                </c:pt>
                <c:pt idx="1">
                  <c:v>Región Caribe</c:v>
                </c:pt>
                <c:pt idx="2">
                  <c:v>Región Sur</c:v>
                </c:pt>
                <c:pt idx="3">
                  <c:v>Casanare y Arauca</c:v>
                </c:pt>
                <c:pt idx="4">
                  <c:v>Meta</c:v>
                </c:pt>
                <c:pt idx="5">
                  <c:v>Otros departamentos</c:v>
                </c:pt>
              </c:strCache>
            </c:strRef>
          </c:cat>
          <c:val>
            <c:numRef>
              <c:f>'7. Nal - Regional'!$V$11:$V$16</c:f>
            </c:numRef>
          </c:val>
          <c:extLst>
            <c:ext xmlns:c16="http://schemas.microsoft.com/office/drawing/2014/chart" uri="{C3380CC4-5D6E-409C-BE32-E72D297353CC}">
              <c16:uniqueId val="{00000005-6CBB-4CA6-99E7-CCDDF9AE1F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17009368"/>
        <c:axId val="1"/>
      </c:barChart>
      <c:catAx>
        <c:axId val="417009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1"/>
        <c:crosses val="autoZero"/>
        <c:auto val="1"/>
        <c:lblAlgn val="ctr"/>
        <c:lblOffset val="100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417009368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numFmt formatCode="#,##0_ " sourceLinked="1"/>
        <c:majorTickMark val="out"/>
        <c:minorTickMark val="none"/>
        <c:tickLblPos val="nextTo"/>
        <c:spPr>
          <a:ln w="3175" cap="flat" cmpd="sng" algn="ctr">
            <a:noFill/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s-CO"/>
          </a:p>
        </c:txPr>
        <c:crossAx val="3"/>
        <c:crosses val="max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28192590136759221"/>
          <c:y val="0.80525972044192151"/>
          <c:w val="0.38949998618593729"/>
          <c:h val="9.2500152597204455E-2"/>
        </c:manualLayout>
      </c:layout>
      <c:overlay val="0"/>
      <c:spPr>
        <a:noFill/>
        <a:ln w="3175">
          <a:noFill/>
        </a:ln>
      </c:spPr>
      <c:txPr>
        <a:bodyPr/>
        <a:lstStyle/>
        <a:p>
          <a:pPr>
            <a:defRPr sz="1100" b="0" i="0" u="none" strike="noStrike" baseline="0">
              <a:solidFill>
                <a:srgbClr val="333333"/>
              </a:solidFill>
              <a:latin typeface="Calibri"/>
              <a:ea typeface="Calibri"/>
              <a:cs typeface="Calibri"/>
            </a:defRPr>
          </a:pPr>
          <a:endParaRPr lang="es-CO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CO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0.30863</cdr:x>
      <cdr:y>0.15805</cdr:y>
    </cdr:from>
    <cdr:to>
      <cdr:x>0.39175</cdr:x>
      <cdr:y>0.27469</cdr:y>
    </cdr:to>
    <cdr:sp macro="" textlink="">
      <cdr:nvSpPr>
        <cdr:cNvPr id="2" name="Rectángulo 1"/>
        <cdr:cNvSpPr/>
      </cdr:nvSpPr>
      <cdr:spPr>
        <a:xfrm xmlns:a="http://schemas.openxmlformats.org/drawingml/2006/main">
          <a:off x="2576224" y="504687"/>
          <a:ext cx="693831" cy="37245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s-CO" altLang="es-ES" sz="1400" b="1"/>
            <a:t>615</a:t>
          </a:r>
        </a:p>
      </cdr:txBody>
    </cdr:sp>
  </cdr:relSizeAnchor>
  <cdr:relSizeAnchor xmlns:cdr="http://schemas.openxmlformats.org/drawingml/2006/chartDrawing">
    <cdr:from>
      <cdr:x>0.53405</cdr:x>
      <cdr:y>0.64109</cdr:y>
    </cdr:from>
    <cdr:to>
      <cdr:x>0.58114</cdr:x>
      <cdr:y>0.76999</cdr:y>
    </cdr:to>
    <cdr:sp macro="" textlink="">
      <cdr:nvSpPr>
        <cdr:cNvPr id="3" name="Rectángulo 2"/>
        <cdr:cNvSpPr/>
      </cdr:nvSpPr>
      <cdr:spPr>
        <a:xfrm xmlns:a="http://schemas.openxmlformats.org/drawingml/2006/main">
          <a:off x="4488102" y="1903029"/>
          <a:ext cx="395739" cy="38261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ts val="1300"/>
            </a:lnSpc>
          </a:pPr>
          <a:endParaRPr lang="es-CO" altLang="es-ES" sz="1400" b="1"/>
        </a:p>
        <a:p xmlns:a="http://schemas.openxmlformats.org/drawingml/2006/main">
          <a:pPr>
            <a:lnSpc>
              <a:spcPts val="1300"/>
            </a:lnSpc>
          </a:pPr>
          <a:r>
            <a:rPr lang="es-CO" altLang="es-ES" sz="1400" b="1"/>
            <a:t>0</a:t>
          </a:r>
        </a:p>
      </cdr:txBody>
    </cdr:sp>
  </cdr:relSizeAnchor>
  <cdr:relSizeAnchor xmlns:cdr="http://schemas.openxmlformats.org/drawingml/2006/chartDrawing">
    <cdr:from>
      <cdr:x>0.74239</cdr:x>
      <cdr:y>0.10672</cdr:y>
    </cdr:from>
    <cdr:to>
      <cdr:x>0.83409</cdr:x>
      <cdr:y>0.28213</cdr:y>
    </cdr:to>
    <cdr:sp macro="" textlink="">
      <cdr:nvSpPr>
        <cdr:cNvPr id="4" name="Rectángulo 3"/>
        <cdr:cNvSpPr/>
      </cdr:nvSpPr>
      <cdr:spPr>
        <a:xfrm xmlns:a="http://schemas.openxmlformats.org/drawingml/2006/main">
          <a:off x="6999131" y="283816"/>
          <a:ext cx="864527" cy="46650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s-CO" altLang="es-ES" sz="1400" b="1" dirty="0"/>
            <a:t>665</a:t>
          </a:r>
        </a:p>
      </cdr:txBody>
    </cdr:sp>
  </cdr:relSizeAnchor>
  <cdr:relSizeAnchor xmlns:cdr="http://schemas.openxmlformats.org/drawingml/2006/chartDrawing">
    <cdr:from>
      <cdr:x>0.0867</cdr:x>
      <cdr:y>0.61635</cdr:y>
    </cdr:from>
    <cdr:to>
      <cdr:x>0.16207</cdr:x>
      <cdr:y>0.70513</cdr:y>
    </cdr:to>
    <cdr:sp macro="" textlink="">
      <cdr:nvSpPr>
        <cdr:cNvPr id="6" name="Rectángulo 5"/>
        <cdr:cNvSpPr/>
      </cdr:nvSpPr>
      <cdr:spPr>
        <a:xfrm xmlns:a="http://schemas.openxmlformats.org/drawingml/2006/main">
          <a:off x="723737" y="1968118"/>
          <a:ext cx="629139" cy="28348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ts val="1300"/>
            </a:lnSpc>
          </a:pPr>
          <a:r>
            <a:rPr lang="es-CO" altLang="es-ES" sz="1400" b="1"/>
            <a:t>50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31A7E-70ED-4051-A4B6-E9900E727936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1C985-90E5-4CF8-BA0F-2278179E17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592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1C985-90E5-4CF8-BA0F-2278179E1764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009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1C985-90E5-4CF8-BA0F-2278179E1764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8271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1C985-90E5-4CF8-BA0F-2278179E1764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9830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1C985-90E5-4CF8-BA0F-2278179E1764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1847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61C985-90E5-4CF8-BA0F-2278179E1764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907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763C1-D8D0-E6E1-F705-0F64BEB3C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2C89AF-44FB-C76C-2558-0E0759CDF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EC6F8E-325F-3D74-2885-B75F6CC93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7D8B-E4DB-BA41-8533-C25AEC658B7D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A33736-74AD-F266-59DC-792396294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645CD3-3E24-D965-623D-6E57171F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571-32B0-AF4A-80FF-B33B42CDB7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49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1FCF3-52ED-5481-00F8-BCC78FD0D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69A007-2A9D-34F8-3EEA-EA5A04AC2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19246B-8978-1E1E-20D5-2B579B6C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7D8B-E4DB-BA41-8533-C25AEC658B7D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82C96F-1DBC-3207-ADA2-0BC28CCA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B125B2-08E9-88F5-8BAB-AEFE10F4D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571-32B0-AF4A-80FF-B33B42CDB7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95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9FEA6-E61B-667E-292D-732FEB186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E13681-FFCA-BB40-723D-94912651B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842C99-7E5A-0803-2A07-9AD38045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7D8B-E4DB-BA41-8533-C25AEC658B7D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FB0C19-7FF0-DC40-0402-E7C96691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05AD1-E474-EC17-2536-52C7E243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571-32B0-AF4A-80FF-B33B42CDB7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1080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2EE35-8F3E-CBD9-1FE7-62001723C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35649E-6AD1-12B9-A3A6-CA35F554D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DF16CE-F66F-F990-06A8-46CAC229B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3698B7-573E-BE4B-4C49-D83BAD80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7D8B-E4DB-BA41-8533-C25AEC658B7D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0962E1-B480-CC82-839F-D61D567EC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95D687-8D9D-33C4-B0E5-658C1333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571-32B0-AF4A-80FF-B33B42CDB7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688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6BE69-37AC-AA87-3DC2-66FC5A7C8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5AFD11-177F-AEA7-D200-0CE7F14C3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29D96E-D727-F1F0-FBDD-2E1FCB62E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0F79DE0-9DAB-79E7-B272-71F3A5D4D7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249367-5BB5-4EE8-D43A-F2A8C12C4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23CB79-0523-7BA3-A2EC-65E78B1F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7D8B-E4DB-BA41-8533-C25AEC658B7D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FE8DC46-3AFE-BCE9-D509-E5A8F3C5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A4FCA1C-9160-EE80-11A1-ABF3CA05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571-32B0-AF4A-80FF-B33B42CDB7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5450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0B5005-070B-7009-5056-478D34C6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50431FF-FCB5-C711-4F07-40571BA1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7D8B-E4DB-BA41-8533-C25AEC658B7D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994C9F4-21E6-1770-E599-1C44A1A18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FD9574-F885-EA84-6EA5-1AC29B9A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571-32B0-AF4A-80FF-B33B42CDB7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945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D3C3DF8-09E2-00E7-B3F0-1CD55B8C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7D8B-E4DB-BA41-8533-C25AEC658B7D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A87CB8-89F3-A8C1-EF40-FC707064D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466491-C0E1-BD9B-8D95-D673FF99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571-32B0-AF4A-80FF-B33B42CDB7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1241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92331-D4A7-0622-ABE3-1AADDF18B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84D9EA-1465-1F96-7F41-C315B277E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02287C-761E-B554-B7FA-B63ECAD62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5FF4D-FE91-65C0-0F65-8708CCB8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7D8B-E4DB-BA41-8533-C25AEC658B7D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389B98-DC6C-5A1D-CB66-985767E6C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52CD22-40F2-35BD-01B1-186BD56FE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571-32B0-AF4A-80FF-B33B42CDB7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7607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FD851-C5D5-828E-6F6D-4EDAFBC4D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1DB7BA3-CB7D-2696-E9F2-753866FDE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6C74F1-F8AC-3EF5-41C7-AF24CF763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582D4D-65E0-FC4D-1E4F-4074240A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7D8B-E4DB-BA41-8533-C25AEC658B7D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AC7325-378E-878F-E22F-F97075679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10475B-C235-EFD8-5027-DB9DD8BD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571-32B0-AF4A-80FF-B33B42CDB7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5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E983B-72DF-6FB6-368A-03893608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954F8E-96A1-F52E-32AB-671549656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0956F7-B6C2-685C-95DF-B9471A162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7D8B-E4DB-BA41-8533-C25AEC658B7D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2969EB-ECA2-707F-86BA-3DD16AA33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A0EB98-E53E-DBF7-5F13-1CC344395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571-32B0-AF4A-80FF-B33B42CDB7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965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FABBBC-3213-8AC2-5175-3ACF399D95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1C2DE4-CD72-C892-3DFE-771FA19E7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1A8046-74EB-57F1-703D-15B1BAC24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7D8B-E4DB-BA41-8533-C25AEC658B7D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15A1A3-D2D0-0EEA-85A5-85C7BD193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059F3A-FDA7-F236-137D-0335F732D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571-32B0-AF4A-80FF-B33B42CDB7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695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425BEE0-5F7B-7811-E3BC-F3B2D3327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0CBBAD-2607-E351-AA27-A7DDBEB17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C44257-EBA3-EB77-DEEB-D0A7FE1A8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87D8B-E4DB-BA41-8533-C25AEC658B7D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0B6F80-9DE1-2EC6-6458-54E5B72A3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47E7CB-92AF-7CB6-2040-52BD20976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B3571-32B0-AF4A-80FF-B33B42CDB761}" type="slidenum">
              <a:rPr lang="es-CO" smtClean="0"/>
              <a:t>‹Nº›</a:t>
            </a:fld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E1113D0-61AD-BBFA-FCD5-94D2A888FD65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5650675" y="6703060"/>
            <a:ext cx="9080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CO" sz="6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ECP-INFORMACION PUBLICA</a:t>
            </a:r>
          </a:p>
        </p:txBody>
      </p:sp>
    </p:spTree>
    <p:extLst>
      <p:ext uri="{BB962C8B-B14F-4D97-AF65-F5344CB8AC3E}">
        <p14:creationId xmlns:p14="http://schemas.microsoft.com/office/powerpoint/2010/main" val="369316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DE05-82D0-0338-8E3C-E00E299E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926E7F0-56F5-C869-6DBF-BD559A26C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064EB18-24B7-84D8-109B-61DE54D81853}"/>
              </a:ext>
            </a:extLst>
          </p:cNvPr>
          <p:cNvSpPr txBox="1"/>
          <p:nvPr/>
        </p:nvSpPr>
        <p:spPr>
          <a:xfrm>
            <a:off x="7728326" y="1267405"/>
            <a:ext cx="41761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dirty="0" smtClean="0">
                <a:solidFill>
                  <a:schemeClr val="bg1">
                    <a:lumMod val="9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Análisis</a:t>
            </a:r>
          </a:p>
          <a:p>
            <a:pPr algn="ctr"/>
            <a:r>
              <a:rPr lang="es-CO" sz="4000" b="1" dirty="0" smtClean="0">
                <a:solidFill>
                  <a:schemeClr val="bg1">
                    <a:lumMod val="9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Monitoreo Medios de Comunicación</a:t>
            </a:r>
            <a:endParaRPr lang="es-CO" sz="4000" b="1" dirty="0">
              <a:solidFill>
                <a:schemeClr val="bg1">
                  <a:lumMod val="9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A89098C-8AB3-E59A-4D70-F2074B01BD77}"/>
              </a:ext>
            </a:extLst>
          </p:cNvPr>
          <p:cNvSpPr txBox="1"/>
          <p:nvPr/>
        </p:nvSpPr>
        <p:spPr>
          <a:xfrm>
            <a:off x="7816244" y="4294242"/>
            <a:ext cx="4088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 smtClean="0">
                <a:solidFill>
                  <a:schemeClr val="bg1">
                    <a:lumMod val="9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Abril 06 a abril 12  de 2026</a:t>
            </a:r>
            <a:endParaRPr lang="es-CO" sz="2000" b="1" dirty="0">
              <a:solidFill>
                <a:schemeClr val="bg1">
                  <a:lumMod val="9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A89098C-8AB3-E59A-4D70-F2074B01BD77}"/>
              </a:ext>
            </a:extLst>
          </p:cNvPr>
          <p:cNvSpPr txBox="1"/>
          <p:nvPr/>
        </p:nvSpPr>
        <p:spPr>
          <a:xfrm>
            <a:off x="7816244" y="4986032"/>
            <a:ext cx="43112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 smtClean="0">
                <a:solidFill>
                  <a:schemeClr val="bg1">
                    <a:lumMod val="9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Jefatura de Comunicaciones  Externas y Prensa</a:t>
            </a:r>
            <a:endParaRPr lang="es-CO" sz="2000" b="1" dirty="0">
              <a:solidFill>
                <a:schemeClr val="bg1">
                  <a:lumMod val="9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418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C2E34A6-73A2-4862-F55E-C5DC759FC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21D86F-EC94-89E0-0250-4153E720A08E}"/>
              </a:ext>
            </a:extLst>
          </p:cNvPr>
          <p:cNvSpPr txBox="1"/>
          <p:nvPr/>
        </p:nvSpPr>
        <p:spPr>
          <a:xfrm>
            <a:off x="374608" y="748445"/>
            <a:ext cx="1190445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Comportamiento y temáticas principales</a:t>
            </a:r>
          </a:p>
          <a:p>
            <a:endParaRPr lang="es-CO" sz="3600" b="1" dirty="0">
              <a:solidFill>
                <a:srgbClr val="00323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352273-0437-93CC-69C8-9A9632116DEA}"/>
              </a:ext>
            </a:extLst>
          </p:cNvPr>
          <p:cNvSpPr txBox="1"/>
          <p:nvPr/>
        </p:nvSpPr>
        <p:spPr>
          <a:xfrm>
            <a:off x="7163383" y="5338218"/>
            <a:ext cx="6301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Potencial audiencia  </a:t>
            </a:r>
          </a:p>
          <a:p>
            <a:r>
              <a:rPr lang="es-CO" sz="2400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publicaciones </a:t>
            </a:r>
            <a:r>
              <a:rPr lang="es-CO" sz="2400" b="1" dirty="0" smtClean="0">
                <a:solidFill>
                  <a:srgbClr val="3C357B"/>
                </a:solidFill>
                <a:latin typeface="Arial Black" panose="020B0A04020102020204" pitchFamily="34" charset="0"/>
              </a:rPr>
              <a:t>directas </a:t>
            </a:r>
          </a:p>
          <a:p>
            <a:r>
              <a:rPr lang="es-CO" sz="2400" b="1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137.197.800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EC13EE-9F93-16B8-5EBC-A414DAC02BD0}"/>
              </a:ext>
            </a:extLst>
          </p:cNvPr>
          <p:cNvSpPr txBox="1"/>
          <p:nvPr/>
        </p:nvSpPr>
        <p:spPr>
          <a:xfrm>
            <a:off x="1021376" y="429378"/>
            <a:ext cx="630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 06 a abril 12 de 2026</a:t>
            </a:r>
            <a:endParaRPr lang="es-CO" sz="12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339954" y="1515041"/>
            <a:ext cx="1432605" cy="1076781"/>
          </a:xfrm>
          <a:prstGeom prst="rect">
            <a:avLst/>
          </a:prstGeom>
          <a:solidFill>
            <a:srgbClr val="3C35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altLang="es-ES" sz="24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  <a:sym typeface="+mn-ea"/>
              </a:rPr>
              <a:t>716</a:t>
            </a:r>
          </a:p>
          <a:p>
            <a:pPr algn="ctr"/>
            <a:r>
              <a:rPr lang="es-ES" altLang="es-E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Publicaciones </a:t>
            </a:r>
            <a:endParaRPr lang="es-CO" altLang="es-E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1807213" y="1503186"/>
            <a:ext cx="8358305" cy="108836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            </a:t>
            </a:r>
            <a:r>
              <a:rPr lang="es-CO" sz="2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665</a:t>
            </a:r>
          </a:p>
          <a:p>
            <a:endParaRPr lang="es-CO" sz="2800" b="1" dirty="0">
              <a:solidFill>
                <a:schemeClr val="bg1"/>
              </a:solidFill>
              <a:latin typeface="Eco Sans Medium" pitchFamily="2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545408" y="198725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volumen total de la </a:t>
            </a:r>
            <a:r>
              <a:rPr lang="es-CO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conversación</a:t>
            </a:r>
            <a:endParaRPr lang="es-CO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O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s-CO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860390" y="2242469"/>
            <a:ext cx="13562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92,8%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4725094" y="1515041"/>
            <a:ext cx="4325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Publicaciones directas</a:t>
            </a:r>
            <a:endParaRPr lang="es-CO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5255402" y="1814100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 o Grupo Empresarial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Financiera - especializadas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Presidente – Ricardo Roa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9093801" y="1859720"/>
            <a:ext cx="122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292%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8324975" y="2495525"/>
            <a:ext cx="2114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vs. </a:t>
            </a:r>
            <a:r>
              <a:rPr lang="es-CO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</a:t>
            </a:r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anterior</a:t>
            </a:r>
          </a:p>
        </p:txBody>
      </p:sp>
      <p:sp>
        <p:nvSpPr>
          <p:cNvPr id="20" name="Flecha derecha 19"/>
          <p:cNvSpPr/>
          <p:nvPr/>
        </p:nvSpPr>
        <p:spPr>
          <a:xfrm rot="16200000">
            <a:off x="8745542" y="1957669"/>
            <a:ext cx="273365" cy="31714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10244831" y="1539643"/>
            <a:ext cx="1671624" cy="103210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CO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Publicaciones </a:t>
            </a:r>
            <a:endParaRPr lang="es-CO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indirectas</a:t>
            </a:r>
          </a:p>
          <a:p>
            <a:pPr algn="just"/>
            <a:endParaRPr lang="es-CO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CO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10553603" y="2038373"/>
            <a:ext cx="1116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7,2%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23" name="Gráfico 22">
            <a:extLst>
              <a:ext uri="{FF2B5EF4-FFF2-40B4-BE49-F238E27FC236}">
                <a16:creationId xmlns:a16="http://schemas.microsoft.com/office/drawing/2014/main" id="{00000000-0008-0000-0100-000048F0B3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446860"/>
              </p:ext>
            </p:extLst>
          </p:nvPr>
        </p:nvGraphicFramePr>
        <p:xfrm>
          <a:off x="7341827" y="2816276"/>
          <a:ext cx="3397943" cy="2455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544888"/>
              </p:ext>
            </p:extLst>
          </p:nvPr>
        </p:nvGraphicFramePr>
        <p:xfrm>
          <a:off x="400146" y="2808491"/>
          <a:ext cx="6541536" cy="3657600"/>
        </p:xfrm>
        <a:graphic>
          <a:graphicData uri="http://schemas.openxmlformats.org/drawingml/2006/table">
            <a:tbl>
              <a:tblPr/>
              <a:tblGrid>
                <a:gridCol w="2696754">
                  <a:extLst>
                    <a:ext uri="{9D8B030D-6E8A-4147-A177-3AD203B41FA5}">
                      <a16:colId xmlns:a16="http://schemas.microsoft.com/office/drawing/2014/main" val="3698397439"/>
                    </a:ext>
                  </a:extLst>
                </a:gridCol>
                <a:gridCol w="593445">
                  <a:extLst>
                    <a:ext uri="{9D8B030D-6E8A-4147-A177-3AD203B41FA5}">
                      <a16:colId xmlns:a16="http://schemas.microsoft.com/office/drawing/2014/main" val="3876607167"/>
                    </a:ext>
                  </a:extLst>
                </a:gridCol>
                <a:gridCol w="1340037">
                  <a:extLst>
                    <a:ext uri="{9D8B030D-6E8A-4147-A177-3AD203B41FA5}">
                      <a16:colId xmlns:a16="http://schemas.microsoft.com/office/drawing/2014/main" val="3980796661"/>
                    </a:ext>
                  </a:extLst>
                </a:gridCol>
                <a:gridCol w="632277">
                  <a:extLst>
                    <a:ext uri="{9D8B030D-6E8A-4147-A177-3AD203B41FA5}">
                      <a16:colId xmlns:a16="http://schemas.microsoft.com/office/drawing/2014/main" val="1626990921"/>
                    </a:ext>
                  </a:extLst>
                </a:gridCol>
                <a:gridCol w="607213">
                  <a:extLst>
                    <a:ext uri="{9D8B030D-6E8A-4147-A177-3AD203B41FA5}">
                      <a16:colId xmlns:a16="http://schemas.microsoft.com/office/drawing/2014/main" val="380892490"/>
                    </a:ext>
                  </a:extLst>
                </a:gridCol>
                <a:gridCol w="671810">
                  <a:extLst>
                    <a:ext uri="{9D8B030D-6E8A-4147-A177-3AD203B41FA5}">
                      <a16:colId xmlns:a16="http://schemas.microsoft.com/office/drawing/2014/main" val="71022729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Financieras Especializadas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Audiencia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Neut.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33036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Finanzas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10125181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372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S&amp;P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6.367.572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1012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Grupo Empresarial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809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Relevo en Ecopetrol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61.619.354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4119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Entorno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5.796.708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9003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Juan Carlos Hurtado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7.027.706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6116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Inversión social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2.148.583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1907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Opinión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17.125.676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552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Nueva planta de azufre sólido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3.271.136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3329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Exploración y producción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1.074.093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8711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Junta directiva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2.621.777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4317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Junta Directiva - Ricardo Roa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11.063.400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0403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Transición Energética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1.492.662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5323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Medio Ambiente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99.000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38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343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C2E34A6-73A2-4862-F55E-C5DC759FC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18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21D86F-EC94-89E0-0250-4153E720A08E}"/>
              </a:ext>
            </a:extLst>
          </p:cNvPr>
          <p:cNvSpPr txBox="1"/>
          <p:nvPr/>
        </p:nvSpPr>
        <p:spPr>
          <a:xfrm>
            <a:off x="545408" y="706377"/>
            <a:ext cx="1098695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Publicaciones y audiencia por sentimiento</a:t>
            </a:r>
          </a:p>
          <a:p>
            <a:endParaRPr lang="es-CO" sz="3600" b="1" dirty="0">
              <a:solidFill>
                <a:srgbClr val="00323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352273-0437-93CC-69C8-9A9632116DEA}"/>
              </a:ext>
            </a:extLst>
          </p:cNvPr>
          <p:cNvSpPr txBox="1"/>
          <p:nvPr/>
        </p:nvSpPr>
        <p:spPr>
          <a:xfrm>
            <a:off x="340000" y="4910925"/>
            <a:ext cx="6301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 smtClean="0">
                <a:solidFill>
                  <a:srgbClr val="0032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Temas con mayores </a:t>
            </a:r>
          </a:p>
          <a:p>
            <a:r>
              <a:rPr lang="es-CO" sz="2400" b="1" dirty="0" smtClean="0">
                <a:solidFill>
                  <a:srgbClr val="0032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publicaciones  </a:t>
            </a:r>
          </a:p>
          <a:p>
            <a:r>
              <a:rPr lang="es-CO" sz="2400" b="1" dirty="0" smtClean="0">
                <a:solidFill>
                  <a:srgbClr val="0032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audiencia</a:t>
            </a:r>
            <a:endParaRPr lang="es-CO" sz="2400" b="1" dirty="0">
              <a:solidFill>
                <a:srgbClr val="0032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EC13EE-9F93-16B8-5EBC-A414DAC02BD0}"/>
              </a:ext>
            </a:extLst>
          </p:cNvPr>
          <p:cNvSpPr txBox="1"/>
          <p:nvPr/>
        </p:nvSpPr>
        <p:spPr>
          <a:xfrm>
            <a:off x="1021376" y="429378"/>
            <a:ext cx="630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 06 a abril 12 de 2026</a:t>
            </a:r>
            <a:endParaRPr lang="es-CO" sz="12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545408" y="1987252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volumen total de la </a:t>
            </a:r>
            <a:r>
              <a:rPr lang="es-CO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conversación</a:t>
            </a:r>
            <a:endParaRPr lang="es-CO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O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860390" y="2242469"/>
            <a:ext cx="13562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92,8%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9093801" y="1859720"/>
            <a:ext cx="122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292%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8324975" y="2495525"/>
            <a:ext cx="2114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vs. </a:t>
            </a:r>
            <a:r>
              <a:rPr lang="es-CO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</a:t>
            </a:r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anterior</a:t>
            </a:r>
          </a:p>
        </p:txBody>
      </p:sp>
      <p:sp>
        <p:nvSpPr>
          <p:cNvPr id="20" name="Flecha derecha 19"/>
          <p:cNvSpPr/>
          <p:nvPr/>
        </p:nvSpPr>
        <p:spPr>
          <a:xfrm rot="16200000">
            <a:off x="8745542" y="1957669"/>
            <a:ext cx="273365" cy="31714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uadroTexto 21"/>
          <p:cNvSpPr txBox="1"/>
          <p:nvPr/>
        </p:nvSpPr>
        <p:spPr>
          <a:xfrm>
            <a:off x="10553603" y="2038373"/>
            <a:ext cx="1116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7,2%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23" name="Gráfico 22">
            <a:extLst>
              <a:ext uri="{FF2B5EF4-FFF2-40B4-BE49-F238E27FC236}">
                <a16:creationId xmlns:a16="http://schemas.microsoft.com/office/drawing/2014/main" id="{00000000-0008-0000-0200-0000A6419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4531912"/>
              </p:ext>
            </p:extLst>
          </p:nvPr>
        </p:nvGraphicFramePr>
        <p:xfrm>
          <a:off x="1324993" y="2077275"/>
          <a:ext cx="9427779" cy="2425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592281"/>
              </p:ext>
            </p:extLst>
          </p:nvPr>
        </p:nvGraphicFramePr>
        <p:xfrm>
          <a:off x="3326923" y="4907503"/>
          <a:ext cx="5555301" cy="1463040"/>
        </p:xfrm>
        <a:graphic>
          <a:graphicData uri="http://schemas.openxmlformats.org/drawingml/2006/table">
            <a:tbl>
              <a:tblPr/>
              <a:tblGrid>
                <a:gridCol w="2523498">
                  <a:extLst>
                    <a:ext uri="{9D8B030D-6E8A-4147-A177-3AD203B41FA5}">
                      <a16:colId xmlns:a16="http://schemas.microsoft.com/office/drawing/2014/main" val="1642869349"/>
                    </a:ext>
                  </a:extLst>
                </a:gridCol>
                <a:gridCol w="490280">
                  <a:extLst>
                    <a:ext uri="{9D8B030D-6E8A-4147-A177-3AD203B41FA5}">
                      <a16:colId xmlns:a16="http://schemas.microsoft.com/office/drawing/2014/main" val="605850639"/>
                    </a:ext>
                  </a:extLst>
                </a:gridCol>
                <a:gridCol w="594824">
                  <a:extLst>
                    <a:ext uri="{9D8B030D-6E8A-4147-A177-3AD203B41FA5}">
                      <a16:colId xmlns:a16="http://schemas.microsoft.com/office/drawing/2014/main" val="2319578935"/>
                    </a:ext>
                  </a:extLst>
                </a:gridCol>
                <a:gridCol w="447020">
                  <a:extLst>
                    <a:ext uri="{9D8B030D-6E8A-4147-A177-3AD203B41FA5}">
                      <a16:colId xmlns:a16="http://schemas.microsoft.com/office/drawing/2014/main" val="1669580192"/>
                    </a:ext>
                  </a:extLst>
                </a:gridCol>
                <a:gridCol w="475860">
                  <a:extLst>
                    <a:ext uri="{9D8B030D-6E8A-4147-A177-3AD203B41FA5}">
                      <a16:colId xmlns:a16="http://schemas.microsoft.com/office/drawing/2014/main" val="1787745983"/>
                    </a:ext>
                  </a:extLst>
                </a:gridCol>
                <a:gridCol w="1023819">
                  <a:extLst>
                    <a:ext uri="{9D8B030D-6E8A-4147-A177-3AD203B41FA5}">
                      <a16:colId xmlns:a16="http://schemas.microsoft.com/office/drawing/2014/main" val="1516063226"/>
                    </a:ext>
                  </a:extLst>
                </a:gridCol>
              </a:tblGrid>
              <a:tr h="185201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Audiencia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01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Relevo en Ecopetrol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61.619.354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1814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Entorno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5.796.708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344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Juan Carlos Hurtado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7.027.706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14676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Inversión social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2.148.583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486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Finanzas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10.125.181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0933"/>
                  </a:ext>
                </a:extLst>
              </a:tr>
            </a:tbl>
          </a:graphicData>
        </a:graphic>
      </p:graphicFrame>
      <p:sp>
        <p:nvSpPr>
          <p:cNvPr id="25" name="Rectángulo 24"/>
          <p:cNvSpPr/>
          <p:nvPr/>
        </p:nvSpPr>
        <p:spPr>
          <a:xfrm>
            <a:off x="9018801" y="4888957"/>
            <a:ext cx="62050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publicaciones  </a:t>
            </a:r>
            <a:endParaRPr lang="es-CO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665</a:t>
            </a:r>
          </a:p>
          <a:p>
            <a:r>
              <a:rPr lang="es-CO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Potencial audiencia </a:t>
            </a:r>
            <a:r>
              <a:rPr lang="es-CO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alcanzada </a:t>
            </a:r>
          </a:p>
          <a:p>
            <a:pPr algn="just"/>
            <a:r>
              <a:rPr lang="es-CO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137.097.800</a:t>
            </a:r>
            <a:endParaRPr lang="es-CO" sz="16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99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C2E34A6-73A2-4862-F55E-C5DC759FC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18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21D86F-EC94-89E0-0250-4153E720A08E}"/>
              </a:ext>
            </a:extLst>
          </p:cNvPr>
          <p:cNvSpPr txBox="1"/>
          <p:nvPr/>
        </p:nvSpPr>
        <p:spPr>
          <a:xfrm>
            <a:off x="545408" y="597049"/>
            <a:ext cx="109869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Desempeño por sentimiento</a:t>
            </a:r>
          </a:p>
          <a:p>
            <a:endParaRPr lang="es-CO" sz="3600" b="1" dirty="0">
              <a:solidFill>
                <a:srgbClr val="00323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EC13EE-9F93-16B8-5EBC-A414DAC02BD0}"/>
              </a:ext>
            </a:extLst>
          </p:cNvPr>
          <p:cNvSpPr txBox="1"/>
          <p:nvPr/>
        </p:nvSpPr>
        <p:spPr>
          <a:xfrm>
            <a:off x="1021376" y="429378"/>
            <a:ext cx="630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 06 a abril 12 de 2026</a:t>
            </a:r>
            <a:endParaRPr lang="es-CO" sz="12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545408" y="1987252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volumen total de la </a:t>
            </a:r>
            <a:r>
              <a:rPr lang="es-CO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conversación</a:t>
            </a:r>
            <a:endParaRPr lang="es-CO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O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860390" y="2242469"/>
            <a:ext cx="13562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92,8%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9093801" y="1859720"/>
            <a:ext cx="122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292%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8324975" y="2495525"/>
            <a:ext cx="2114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vs. </a:t>
            </a:r>
            <a:r>
              <a:rPr lang="es-CO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</a:t>
            </a:r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anterior</a:t>
            </a:r>
          </a:p>
        </p:txBody>
      </p:sp>
      <p:sp>
        <p:nvSpPr>
          <p:cNvPr id="20" name="Flecha derecha 19"/>
          <p:cNvSpPr/>
          <p:nvPr/>
        </p:nvSpPr>
        <p:spPr>
          <a:xfrm rot="16200000">
            <a:off x="8745542" y="1957669"/>
            <a:ext cx="273365" cy="31714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uadroTexto 21"/>
          <p:cNvSpPr txBox="1"/>
          <p:nvPr/>
        </p:nvSpPr>
        <p:spPr>
          <a:xfrm>
            <a:off x="10553603" y="2038373"/>
            <a:ext cx="1116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7,2%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24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929072"/>
              </p:ext>
            </p:extLst>
          </p:nvPr>
        </p:nvGraphicFramePr>
        <p:xfrm>
          <a:off x="6207200" y="3103954"/>
          <a:ext cx="5555301" cy="1258014"/>
        </p:xfrm>
        <a:graphic>
          <a:graphicData uri="http://schemas.openxmlformats.org/drawingml/2006/table">
            <a:tbl>
              <a:tblPr/>
              <a:tblGrid>
                <a:gridCol w="2523498">
                  <a:extLst>
                    <a:ext uri="{9D8B030D-6E8A-4147-A177-3AD203B41FA5}">
                      <a16:colId xmlns:a16="http://schemas.microsoft.com/office/drawing/2014/main" val="1642869349"/>
                    </a:ext>
                  </a:extLst>
                </a:gridCol>
                <a:gridCol w="490280">
                  <a:extLst>
                    <a:ext uri="{9D8B030D-6E8A-4147-A177-3AD203B41FA5}">
                      <a16:colId xmlns:a16="http://schemas.microsoft.com/office/drawing/2014/main" val="605850639"/>
                    </a:ext>
                  </a:extLst>
                </a:gridCol>
                <a:gridCol w="594824">
                  <a:extLst>
                    <a:ext uri="{9D8B030D-6E8A-4147-A177-3AD203B41FA5}">
                      <a16:colId xmlns:a16="http://schemas.microsoft.com/office/drawing/2014/main" val="2319578935"/>
                    </a:ext>
                  </a:extLst>
                </a:gridCol>
                <a:gridCol w="447020">
                  <a:extLst>
                    <a:ext uri="{9D8B030D-6E8A-4147-A177-3AD203B41FA5}">
                      <a16:colId xmlns:a16="http://schemas.microsoft.com/office/drawing/2014/main" val="1669580192"/>
                    </a:ext>
                  </a:extLst>
                </a:gridCol>
                <a:gridCol w="475860">
                  <a:extLst>
                    <a:ext uri="{9D8B030D-6E8A-4147-A177-3AD203B41FA5}">
                      <a16:colId xmlns:a16="http://schemas.microsoft.com/office/drawing/2014/main" val="1787745983"/>
                    </a:ext>
                  </a:extLst>
                </a:gridCol>
                <a:gridCol w="1023819">
                  <a:extLst>
                    <a:ext uri="{9D8B030D-6E8A-4147-A177-3AD203B41FA5}">
                      <a16:colId xmlns:a16="http://schemas.microsoft.com/office/drawing/2014/main" val="1516063226"/>
                    </a:ext>
                  </a:extLst>
                </a:gridCol>
              </a:tblGrid>
              <a:tr h="20966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Audiencia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0108"/>
                  </a:ext>
                </a:extLst>
              </a:tr>
              <a:tr h="20966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Relevo en Ecopetrol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61.619.354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181471"/>
                  </a:ext>
                </a:extLst>
              </a:tr>
              <a:tr h="20966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Entorno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5.796.708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34466"/>
                  </a:ext>
                </a:extLst>
              </a:tr>
              <a:tr h="20966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Juan Carlos Hurtado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7.027.706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1467656"/>
                  </a:ext>
                </a:extLst>
              </a:tr>
              <a:tr h="20966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Inversión social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2.148.583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48679"/>
                  </a:ext>
                </a:extLst>
              </a:tr>
              <a:tr h="20966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Finanzas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10.125.181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0933"/>
                  </a:ext>
                </a:extLst>
              </a:tr>
            </a:tbl>
          </a:graphicData>
        </a:graphic>
      </p:graphicFrame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00000000-0008-0000-03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5292106"/>
              </p:ext>
            </p:extLst>
          </p:nvPr>
        </p:nvGraphicFramePr>
        <p:xfrm>
          <a:off x="493114" y="1038144"/>
          <a:ext cx="8819281" cy="1758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Rectángulo 5"/>
          <p:cNvSpPr/>
          <p:nvPr/>
        </p:nvSpPr>
        <p:spPr>
          <a:xfrm>
            <a:off x="8085335" y="2707346"/>
            <a:ext cx="22287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Abr. 06 a abr. 12</a:t>
            </a:r>
            <a:endParaRPr lang="es-CO" b="1" dirty="0">
              <a:solidFill>
                <a:srgbClr val="00323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2635530" y="4634733"/>
            <a:ext cx="2267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</a:t>
            </a:r>
            <a:r>
              <a:rPr lang="es-CO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ar. 30 a abr. 05</a:t>
            </a:r>
            <a:endParaRPr lang="es-CO" b="1" dirty="0">
              <a:solidFill>
                <a:srgbClr val="00323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2067121" y="2682399"/>
            <a:ext cx="2341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Mar. 23 a mar. 29</a:t>
            </a:r>
            <a:endParaRPr lang="es-CO" b="1" dirty="0">
              <a:solidFill>
                <a:srgbClr val="00323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graphicFrame>
        <p:nvGraphicFramePr>
          <p:cNvPr id="27" name="Tabla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662530"/>
              </p:ext>
            </p:extLst>
          </p:nvPr>
        </p:nvGraphicFramePr>
        <p:xfrm>
          <a:off x="584531" y="2989350"/>
          <a:ext cx="5349544" cy="1565999"/>
        </p:xfrm>
        <a:graphic>
          <a:graphicData uri="http://schemas.openxmlformats.org/drawingml/2006/table">
            <a:tbl>
              <a:tblPr/>
              <a:tblGrid>
                <a:gridCol w="2137332">
                  <a:extLst>
                    <a:ext uri="{9D8B030D-6E8A-4147-A177-3AD203B41FA5}">
                      <a16:colId xmlns:a16="http://schemas.microsoft.com/office/drawing/2014/main" val="1516229485"/>
                    </a:ext>
                  </a:extLst>
                </a:gridCol>
                <a:gridCol w="467373">
                  <a:extLst>
                    <a:ext uri="{9D8B030D-6E8A-4147-A177-3AD203B41FA5}">
                      <a16:colId xmlns:a16="http://schemas.microsoft.com/office/drawing/2014/main" val="2794860346"/>
                    </a:ext>
                  </a:extLst>
                </a:gridCol>
                <a:gridCol w="498162">
                  <a:extLst>
                    <a:ext uri="{9D8B030D-6E8A-4147-A177-3AD203B41FA5}">
                      <a16:colId xmlns:a16="http://schemas.microsoft.com/office/drawing/2014/main" val="1174301329"/>
                    </a:ext>
                  </a:extLst>
                </a:gridCol>
                <a:gridCol w="594283">
                  <a:extLst>
                    <a:ext uri="{9D8B030D-6E8A-4147-A177-3AD203B41FA5}">
                      <a16:colId xmlns:a16="http://schemas.microsoft.com/office/drawing/2014/main" val="2613411079"/>
                    </a:ext>
                  </a:extLst>
                </a:gridCol>
                <a:gridCol w="521809">
                  <a:extLst>
                    <a:ext uri="{9D8B030D-6E8A-4147-A177-3AD203B41FA5}">
                      <a16:colId xmlns:a16="http://schemas.microsoft.com/office/drawing/2014/main" val="2251840499"/>
                    </a:ext>
                  </a:extLst>
                </a:gridCol>
                <a:gridCol w="1130585">
                  <a:extLst>
                    <a:ext uri="{9D8B030D-6E8A-4147-A177-3AD203B41FA5}">
                      <a16:colId xmlns:a16="http://schemas.microsoft.com/office/drawing/2014/main" val="3201184215"/>
                    </a:ext>
                  </a:extLst>
                </a:gridCol>
              </a:tblGrid>
              <a:tr h="200884"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</a:t>
                      </a:r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Audiencia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454403"/>
                  </a:ext>
                </a:extLst>
              </a:tr>
              <a:tr h="200884"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Asamblea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22.246.455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79344"/>
                  </a:ext>
                </a:extLst>
              </a:tr>
              <a:tr h="200884"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20.387.617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426904"/>
                  </a:ext>
                </a:extLst>
              </a:tr>
              <a:tr h="56157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Junta Directiva - Imputación a Ricardo Roa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37.246.914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827225"/>
                  </a:ext>
                </a:extLst>
              </a:tr>
              <a:tr h="200884"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Medio ambiente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2.246.006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427712"/>
                  </a:ext>
                </a:extLst>
              </a:tr>
              <a:tr h="200884"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Ricardo Roa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8.802.876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566483"/>
                  </a:ext>
                </a:extLst>
              </a:tr>
            </a:tbl>
          </a:graphicData>
        </a:graphic>
      </p:graphicFrame>
      <p:graphicFrame>
        <p:nvGraphicFramePr>
          <p:cNvPr id="29" name="Tabla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484233"/>
              </p:ext>
            </p:extLst>
          </p:nvPr>
        </p:nvGraphicFramePr>
        <p:xfrm>
          <a:off x="584531" y="5004065"/>
          <a:ext cx="5388667" cy="1212519"/>
        </p:xfrm>
        <a:graphic>
          <a:graphicData uri="http://schemas.openxmlformats.org/drawingml/2006/table">
            <a:tbl>
              <a:tblPr/>
              <a:tblGrid>
                <a:gridCol w="2737297">
                  <a:extLst>
                    <a:ext uri="{9D8B030D-6E8A-4147-A177-3AD203B41FA5}">
                      <a16:colId xmlns:a16="http://schemas.microsoft.com/office/drawing/2014/main" val="4284105830"/>
                    </a:ext>
                  </a:extLst>
                </a:gridCol>
                <a:gridCol w="417345">
                  <a:extLst>
                    <a:ext uri="{9D8B030D-6E8A-4147-A177-3AD203B41FA5}">
                      <a16:colId xmlns:a16="http://schemas.microsoft.com/office/drawing/2014/main" val="3211434403"/>
                    </a:ext>
                  </a:extLst>
                </a:gridCol>
                <a:gridCol w="458122">
                  <a:extLst>
                    <a:ext uri="{9D8B030D-6E8A-4147-A177-3AD203B41FA5}">
                      <a16:colId xmlns:a16="http://schemas.microsoft.com/office/drawing/2014/main" val="2293759480"/>
                    </a:ext>
                  </a:extLst>
                </a:gridCol>
                <a:gridCol w="464536">
                  <a:extLst>
                    <a:ext uri="{9D8B030D-6E8A-4147-A177-3AD203B41FA5}">
                      <a16:colId xmlns:a16="http://schemas.microsoft.com/office/drawing/2014/main" val="3543480570"/>
                    </a:ext>
                  </a:extLst>
                </a:gridCol>
                <a:gridCol w="439852">
                  <a:extLst>
                    <a:ext uri="{9D8B030D-6E8A-4147-A177-3AD203B41FA5}">
                      <a16:colId xmlns:a16="http://schemas.microsoft.com/office/drawing/2014/main" val="1502149457"/>
                    </a:ext>
                  </a:extLst>
                </a:gridCol>
                <a:gridCol w="871515">
                  <a:extLst>
                    <a:ext uri="{9D8B030D-6E8A-4147-A177-3AD203B41FA5}">
                      <a16:colId xmlns:a16="http://schemas.microsoft.com/office/drawing/2014/main" val="4169741938"/>
                    </a:ext>
                  </a:extLst>
                </a:gridCol>
              </a:tblGrid>
              <a:tr h="212394"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Audiencia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00909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Junta Directiva - Imput. a Ricardo Roa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13.631.871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77719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Finanzas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5.761.475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88924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Entorno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5.176.296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413084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Campo Gibraltar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758.302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2284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Petro – Roa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1.128.892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651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27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C2E34A6-73A2-4862-F55E-C5DC759FC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18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21D86F-EC94-89E0-0250-4153E720A08E}"/>
              </a:ext>
            </a:extLst>
          </p:cNvPr>
          <p:cNvSpPr txBox="1"/>
          <p:nvPr/>
        </p:nvSpPr>
        <p:spPr>
          <a:xfrm>
            <a:off x="545408" y="597049"/>
            <a:ext cx="10986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Top 20 que más publicaron por sentimiento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EC13EE-9F93-16B8-5EBC-A414DAC02BD0}"/>
              </a:ext>
            </a:extLst>
          </p:cNvPr>
          <p:cNvSpPr txBox="1"/>
          <p:nvPr/>
        </p:nvSpPr>
        <p:spPr>
          <a:xfrm>
            <a:off x="1021376" y="429378"/>
            <a:ext cx="630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 06 a abril 12 de 2026</a:t>
            </a:r>
            <a:endParaRPr lang="es-CO" sz="12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545408" y="1987252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volumen total de la </a:t>
            </a:r>
            <a:r>
              <a:rPr lang="es-CO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conversación</a:t>
            </a:r>
            <a:endParaRPr lang="es-CO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O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860390" y="2242469"/>
            <a:ext cx="13562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92,8%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9093801" y="1859720"/>
            <a:ext cx="122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292%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8324975" y="2495525"/>
            <a:ext cx="2114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vs. </a:t>
            </a:r>
            <a:r>
              <a:rPr lang="es-CO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</a:t>
            </a:r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anterior</a:t>
            </a:r>
          </a:p>
        </p:txBody>
      </p:sp>
      <p:sp>
        <p:nvSpPr>
          <p:cNvPr id="20" name="Flecha derecha 19"/>
          <p:cNvSpPr/>
          <p:nvPr/>
        </p:nvSpPr>
        <p:spPr>
          <a:xfrm rot="16200000">
            <a:off x="8745542" y="1957669"/>
            <a:ext cx="273365" cy="31714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uadroTexto 21"/>
          <p:cNvSpPr txBox="1"/>
          <p:nvPr/>
        </p:nvSpPr>
        <p:spPr>
          <a:xfrm>
            <a:off x="10553603" y="2038373"/>
            <a:ext cx="1116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7,2%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23" name="Gráfico 22">
            <a:extLst>
              <a:ext uri="{FF2B5EF4-FFF2-40B4-BE49-F238E27FC236}">
                <a16:creationId xmlns:a16="http://schemas.microsoft.com/office/drawing/2014/main" id="{00000000-0008-0000-0400-00003010B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3655976"/>
              </p:ext>
            </p:extLst>
          </p:nvPr>
        </p:nvGraphicFramePr>
        <p:xfrm>
          <a:off x="690023" y="1987251"/>
          <a:ext cx="9939780" cy="2892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Rectángulo 24"/>
          <p:cNvSpPr/>
          <p:nvPr/>
        </p:nvSpPr>
        <p:spPr>
          <a:xfrm>
            <a:off x="6450274" y="4875698"/>
            <a:ext cx="191134" cy="126259"/>
          </a:xfrm>
          <a:prstGeom prst="rect">
            <a:avLst/>
          </a:prstGeom>
          <a:solidFill>
            <a:srgbClr val="084D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Rectángulo 25"/>
          <p:cNvSpPr/>
          <p:nvPr/>
        </p:nvSpPr>
        <p:spPr>
          <a:xfrm>
            <a:off x="8352906" y="4826897"/>
            <a:ext cx="224845" cy="16107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CuadroTexto 27"/>
          <p:cNvSpPr txBox="1"/>
          <p:nvPr/>
        </p:nvSpPr>
        <p:spPr>
          <a:xfrm>
            <a:off x="6700179" y="4783201"/>
            <a:ext cx="1376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Total nacionales</a:t>
            </a: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8691275" y="4768937"/>
            <a:ext cx="1938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Total regionales</a:t>
            </a: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8352273-0437-93CC-69C8-9A9632116DEA}"/>
              </a:ext>
            </a:extLst>
          </p:cNvPr>
          <p:cNvSpPr txBox="1"/>
          <p:nvPr/>
        </p:nvSpPr>
        <p:spPr>
          <a:xfrm>
            <a:off x="545407" y="5346383"/>
            <a:ext cx="7140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En total 20 medios publicaron 310  noticias directas sobre Ecopetrol o GE.</a:t>
            </a:r>
            <a:endParaRPr lang="es-CO" sz="2400" b="1" dirty="0">
              <a:solidFill>
                <a:srgbClr val="00323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EEE0485-D1A8-60EC-87EB-3458C6F817A2}"/>
              </a:ext>
            </a:extLst>
          </p:cNvPr>
          <p:cNvSpPr txBox="1"/>
          <p:nvPr/>
        </p:nvSpPr>
        <p:spPr>
          <a:xfrm>
            <a:off x="7685902" y="5360972"/>
            <a:ext cx="6301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registros </a:t>
            </a:r>
            <a:r>
              <a:rPr lang="es-CO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665</a:t>
            </a:r>
            <a:r>
              <a:rPr lang="es-CO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en </a:t>
            </a:r>
            <a:r>
              <a:rPr lang="es-CO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234</a:t>
            </a:r>
            <a:r>
              <a:rPr lang="es-CO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medios</a:t>
            </a:r>
            <a:endParaRPr lang="es-CO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469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C2E34A6-73A2-4862-F55E-C5DC759FC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4754" y="-3878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21D86F-EC94-89E0-0250-4153E720A08E}"/>
              </a:ext>
            </a:extLst>
          </p:cNvPr>
          <p:cNvSpPr txBox="1"/>
          <p:nvPr/>
        </p:nvSpPr>
        <p:spPr>
          <a:xfrm>
            <a:off x="682711" y="658189"/>
            <a:ext cx="10986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Participación por tipo de medio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EC13EE-9F93-16B8-5EBC-A414DAC02BD0}"/>
              </a:ext>
            </a:extLst>
          </p:cNvPr>
          <p:cNvSpPr txBox="1"/>
          <p:nvPr/>
        </p:nvSpPr>
        <p:spPr>
          <a:xfrm>
            <a:off x="1021376" y="429378"/>
            <a:ext cx="630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 06 a abril 12 de 2026</a:t>
            </a:r>
            <a:endParaRPr lang="es-CO" sz="12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545408" y="1987252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volumen total de la </a:t>
            </a:r>
            <a:r>
              <a:rPr lang="es-CO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conversación</a:t>
            </a:r>
            <a:endParaRPr lang="es-CO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O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860390" y="2242469"/>
            <a:ext cx="13562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92,8%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9093801" y="1859720"/>
            <a:ext cx="122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292%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8324975" y="2495525"/>
            <a:ext cx="2114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vs. </a:t>
            </a:r>
            <a:r>
              <a:rPr lang="es-CO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</a:t>
            </a:r>
            <a:r>
              <a:rPr lang="es-CO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anterior</a:t>
            </a:r>
          </a:p>
        </p:txBody>
      </p:sp>
      <p:sp>
        <p:nvSpPr>
          <p:cNvPr id="20" name="Flecha derecha 19"/>
          <p:cNvSpPr/>
          <p:nvPr/>
        </p:nvSpPr>
        <p:spPr>
          <a:xfrm rot="16200000">
            <a:off x="8745542" y="1957669"/>
            <a:ext cx="273365" cy="31714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uadroTexto 21"/>
          <p:cNvSpPr txBox="1"/>
          <p:nvPr/>
        </p:nvSpPr>
        <p:spPr>
          <a:xfrm>
            <a:off x="10553603" y="2038373"/>
            <a:ext cx="1116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7,2%</a:t>
            </a:r>
            <a:endParaRPr lang="es-CO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8352273-0437-93CC-69C8-9A9632116DEA}"/>
              </a:ext>
            </a:extLst>
          </p:cNvPr>
          <p:cNvSpPr txBox="1"/>
          <p:nvPr/>
        </p:nvSpPr>
        <p:spPr>
          <a:xfrm>
            <a:off x="5685263" y="1576708"/>
            <a:ext cx="3143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Prensa – 30 notas</a:t>
            </a:r>
            <a:endParaRPr lang="es-CO" sz="2400" b="1" dirty="0">
              <a:solidFill>
                <a:srgbClr val="00323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8352273-0437-93CC-69C8-9A9632116DEA}"/>
              </a:ext>
            </a:extLst>
          </p:cNvPr>
          <p:cNvSpPr txBox="1"/>
          <p:nvPr/>
        </p:nvSpPr>
        <p:spPr>
          <a:xfrm>
            <a:off x="2784923" y="1559439"/>
            <a:ext cx="3132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Radio - 97 notas</a:t>
            </a:r>
            <a:endParaRPr lang="es-CO" sz="2400" b="1" dirty="0">
              <a:solidFill>
                <a:srgbClr val="00323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8352273-0437-93CC-69C8-9A9632116DEA}"/>
              </a:ext>
            </a:extLst>
          </p:cNvPr>
          <p:cNvSpPr txBox="1"/>
          <p:nvPr/>
        </p:nvSpPr>
        <p:spPr>
          <a:xfrm>
            <a:off x="375606" y="1545786"/>
            <a:ext cx="2665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TV - 62 notas</a:t>
            </a:r>
            <a:endParaRPr lang="es-CO" sz="2400" b="1" dirty="0">
              <a:solidFill>
                <a:srgbClr val="00323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8352273-0437-93CC-69C8-9A9632116DEA}"/>
              </a:ext>
            </a:extLst>
          </p:cNvPr>
          <p:cNvSpPr txBox="1"/>
          <p:nvPr/>
        </p:nvSpPr>
        <p:spPr>
          <a:xfrm>
            <a:off x="8817442" y="1583774"/>
            <a:ext cx="3756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 smtClean="0">
                <a:solidFill>
                  <a:srgbClr val="003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Internet - 62 Notas</a:t>
            </a:r>
            <a:endParaRPr lang="es-CO" sz="2400" b="1" dirty="0">
              <a:solidFill>
                <a:srgbClr val="00323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graphicFrame>
        <p:nvGraphicFramePr>
          <p:cNvPr id="33" name="Gráfico 32">
            <a:extLst>
              <a:ext uri="{FF2B5EF4-FFF2-40B4-BE49-F238E27FC236}">
                <a16:creationId xmlns:a16="http://schemas.microsoft.com/office/drawing/2014/main" id="{00000000-0008-0000-0700-00006045B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1891002"/>
              </p:ext>
            </p:extLst>
          </p:nvPr>
        </p:nvGraphicFramePr>
        <p:xfrm>
          <a:off x="362948" y="1958160"/>
          <a:ext cx="2769284" cy="3839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00000000-0008-0000-0700-00005C45B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3767930"/>
              </p:ext>
            </p:extLst>
          </p:nvPr>
        </p:nvGraphicFramePr>
        <p:xfrm>
          <a:off x="2684223" y="1937394"/>
          <a:ext cx="3040731" cy="3930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5" name="Gráfico 34">
            <a:extLst>
              <a:ext uri="{FF2B5EF4-FFF2-40B4-BE49-F238E27FC236}">
                <a16:creationId xmlns:a16="http://schemas.microsoft.com/office/drawing/2014/main" id="{00000000-0008-0000-0700-00005D45B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1684568"/>
              </p:ext>
            </p:extLst>
          </p:nvPr>
        </p:nvGraphicFramePr>
        <p:xfrm>
          <a:off x="5769044" y="1559439"/>
          <a:ext cx="3013130" cy="43041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6" name="Gráfico 35">
            <a:extLst>
              <a:ext uri="{FF2B5EF4-FFF2-40B4-BE49-F238E27FC236}">
                <a16:creationId xmlns:a16="http://schemas.microsoft.com/office/drawing/2014/main" id="{00000000-0008-0000-0700-00005F45B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5128756"/>
              </p:ext>
            </p:extLst>
          </p:nvPr>
        </p:nvGraphicFramePr>
        <p:xfrm>
          <a:off x="8859998" y="2013739"/>
          <a:ext cx="2806548" cy="3849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7" name="CuadroTexto 36">
            <a:extLst>
              <a:ext uri="{FF2B5EF4-FFF2-40B4-BE49-F238E27FC236}">
                <a16:creationId xmlns:a16="http://schemas.microsoft.com/office/drawing/2014/main" id="{48352273-0437-93CC-69C8-9A9632116DEA}"/>
              </a:ext>
            </a:extLst>
          </p:cNvPr>
          <p:cNvSpPr txBox="1"/>
          <p:nvPr/>
        </p:nvSpPr>
        <p:spPr>
          <a:xfrm>
            <a:off x="381207" y="5649002"/>
            <a:ext cx="4047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Potencial audiencia </a:t>
            </a:r>
            <a:endParaRPr lang="es-CO" sz="1600" dirty="0" smtClean="0">
              <a:solidFill>
                <a:srgbClr val="0068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600" dirty="0" smtClean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alcanzada</a:t>
            </a:r>
            <a:r>
              <a:rPr lang="es-CO" sz="1600" dirty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s-CO" sz="1600" b="1" dirty="0" smtClean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54.830.300</a:t>
            </a:r>
            <a:endParaRPr lang="es-CO" sz="1600" b="1" dirty="0">
              <a:solidFill>
                <a:srgbClr val="0068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8352273-0437-93CC-69C8-9A9632116DEA}"/>
              </a:ext>
            </a:extLst>
          </p:cNvPr>
          <p:cNvSpPr txBox="1"/>
          <p:nvPr/>
        </p:nvSpPr>
        <p:spPr>
          <a:xfrm>
            <a:off x="3110682" y="5656792"/>
            <a:ext cx="4047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Potencial audiencia </a:t>
            </a:r>
            <a:endParaRPr lang="es-CO" sz="1600" dirty="0" smtClean="0">
              <a:solidFill>
                <a:srgbClr val="0068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600" dirty="0" smtClean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alcanzada</a:t>
            </a:r>
            <a:r>
              <a:rPr lang="es-CO" sz="1600" dirty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s-CO" sz="1600" b="1" dirty="0" smtClean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51.067620</a:t>
            </a:r>
            <a:endParaRPr lang="es-CO" sz="1600" b="1" dirty="0">
              <a:solidFill>
                <a:srgbClr val="0068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8352273-0437-93CC-69C8-9A9632116DEA}"/>
              </a:ext>
            </a:extLst>
          </p:cNvPr>
          <p:cNvSpPr txBox="1"/>
          <p:nvPr/>
        </p:nvSpPr>
        <p:spPr>
          <a:xfrm>
            <a:off x="5891831" y="5639538"/>
            <a:ext cx="4047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Potencial audiencia </a:t>
            </a:r>
            <a:endParaRPr lang="es-CO" sz="1600" dirty="0" smtClean="0">
              <a:solidFill>
                <a:srgbClr val="0068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600" dirty="0" smtClean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alcanzada</a:t>
            </a:r>
            <a:r>
              <a:rPr lang="es-CO" sz="1600" dirty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s-CO" sz="1600" b="1" dirty="0" smtClean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4.168.400</a:t>
            </a:r>
            <a:endParaRPr lang="es-CO" sz="1600" b="1" dirty="0">
              <a:solidFill>
                <a:srgbClr val="0068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8352273-0437-93CC-69C8-9A9632116DEA}"/>
              </a:ext>
            </a:extLst>
          </p:cNvPr>
          <p:cNvSpPr txBox="1"/>
          <p:nvPr/>
        </p:nvSpPr>
        <p:spPr>
          <a:xfrm>
            <a:off x="9000326" y="5605402"/>
            <a:ext cx="4047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Potencial audiencia </a:t>
            </a:r>
            <a:endParaRPr lang="es-CO" sz="1600" dirty="0" smtClean="0">
              <a:solidFill>
                <a:srgbClr val="0068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600" dirty="0" smtClean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alcanzada</a:t>
            </a:r>
            <a:r>
              <a:rPr lang="es-CO" sz="1600" dirty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s-CO" sz="1600" b="1" dirty="0" smtClean="0">
                <a:solidFill>
                  <a:srgbClr val="006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27.022.380</a:t>
            </a:r>
            <a:endParaRPr lang="es-CO" sz="1600" b="1" dirty="0">
              <a:solidFill>
                <a:srgbClr val="0068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994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2F093C5-982B-CB6A-6C7A-05E355154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21D86F-EC94-89E0-0250-4153E720A08E}"/>
              </a:ext>
            </a:extLst>
          </p:cNvPr>
          <p:cNvSpPr txBox="1"/>
          <p:nvPr/>
        </p:nvSpPr>
        <p:spPr>
          <a:xfrm>
            <a:off x="866274" y="1300893"/>
            <a:ext cx="108765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 smtClean="0">
                <a:latin typeface="Arial Black" panose="020B0604020202020204" pitchFamily="34" charset="0"/>
                <a:cs typeface="Arial Black" panose="020B0604020202020204" pitchFamily="34" charset="0"/>
              </a:rPr>
              <a:t>Publicaciones de notas por regiones </a:t>
            </a:r>
            <a:endParaRPr lang="es-CO" sz="36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352273-0437-93CC-69C8-9A9632116DEA}"/>
              </a:ext>
            </a:extLst>
          </p:cNvPr>
          <p:cNvSpPr txBox="1"/>
          <p:nvPr/>
        </p:nvSpPr>
        <p:spPr>
          <a:xfrm>
            <a:off x="7246738" y="5322492"/>
            <a:ext cx="4095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Potencial de audiencia alcanzada</a:t>
            </a:r>
          </a:p>
          <a:p>
            <a:r>
              <a:rPr lang="es-CO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5.643.940</a:t>
            </a:r>
          </a:p>
          <a:p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EEE0485-D1A8-60EC-87EB-3458C6F817A2}"/>
              </a:ext>
            </a:extLst>
          </p:cNvPr>
          <p:cNvSpPr txBox="1"/>
          <p:nvPr/>
        </p:nvSpPr>
        <p:spPr>
          <a:xfrm>
            <a:off x="1544936" y="5076270"/>
            <a:ext cx="29204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publicaciones </a:t>
            </a:r>
            <a:r>
              <a:rPr lang="es-CO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274</a:t>
            </a:r>
          </a:p>
          <a:p>
            <a:r>
              <a:rPr lang="es-CO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Positivas	</a:t>
            </a:r>
            <a:r>
              <a:rPr lang="es-CO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143</a:t>
            </a:r>
          </a:p>
          <a:p>
            <a:r>
              <a:rPr lang="es-CO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Neutras	</a:t>
            </a:r>
            <a:r>
              <a:rPr lang="es-CO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109</a:t>
            </a:r>
          </a:p>
          <a:p>
            <a:r>
              <a:rPr lang="es-CO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Negativas	  </a:t>
            </a:r>
            <a:r>
              <a:rPr lang="es-CO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</a:p>
          <a:p>
            <a:endParaRPr lang="es-CO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EC13EE-9F93-16B8-5EBC-A414DAC02BD0}"/>
              </a:ext>
            </a:extLst>
          </p:cNvPr>
          <p:cNvSpPr txBox="1"/>
          <p:nvPr/>
        </p:nvSpPr>
        <p:spPr>
          <a:xfrm>
            <a:off x="1314674" y="698043"/>
            <a:ext cx="630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Fecha: Arial (Cursiva) 12 pt</a:t>
            </a: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0000000-0008-0000-0500-00003924B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6934076"/>
              </p:ext>
            </p:extLst>
          </p:nvPr>
        </p:nvGraphicFramePr>
        <p:xfrm>
          <a:off x="1314674" y="2268215"/>
          <a:ext cx="9509842" cy="2502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39078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0CB5F7D-ED9C-2D13-79CF-01C9344FF9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8EE"/>
              </a:gs>
              <a:gs pos="99000">
                <a:srgbClr val="04CF7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9D56465-D385-480D-BB7C-6856280E8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92783"/>
            <a:ext cx="7772400" cy="179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908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6dda216-a899-4ab6-ba29-0dda5f7b7a74}" enabled="1" method="Privileged" siteId="{a4305987-cf78-4f93-9d64-bf18af65397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576</Words>
  <Application>Microsoft Office PowerPoint</Application>
  <PresentationFormat>Panorámica</PresentationFormat>
  <Paragraphs>332</Paragraphs>
  <Slides>8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Eco Sans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Mendoza, Juan (BOG-MEW)</dc:creator>
  <cp:lastModifiedBy>Admin CHR</cp:lastModifiedBy>
  <cp:revision>39</cp:revision>
  <dcterms:created xsi:type="dcterms:W3CDTF">2023-03-14T15:38:13Z</dcterms:created>
  <dcterms:modified xsi:type="dcterms:W3CDTF">2026-04-13T21:04:38Z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</vt:lpwstr>
  </property>
  <property fmtid="{D5CDD505-2E9C-101B-9397-08002B2CF9AE}" pid="3" name="ClassificationContentMarkingFooterText">
    <vt:lpwstr>ECP-INFORMACION PUBLICA</vt:lpwstr>
  </property>
</Properties>
</file>